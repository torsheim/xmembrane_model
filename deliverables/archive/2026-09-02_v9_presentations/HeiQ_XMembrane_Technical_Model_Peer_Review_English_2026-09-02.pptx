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  •  TECHNICAL MODEL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69680" y="651052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BASIS • 02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846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2471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Active-ERV Model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E6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Technical Formulation and Numerical Implementation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6517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Peer-review deck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312724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FD1D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 volumes • constitutive laws • boundary conditions • solver hierarchy • conservation audits • validation 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43800" y="713232"/>
            <a:ext cx="3950208" cy="5413248"/>
          </a:xfrm>
          <a:prstGeom prst="roundRect">
            <a:avLst>
              <a:gd name="adj" fmla="val 1852"/>
            </a:avLst>
          </a:prstGeom>
          <a:solidFill>
            <a:srgbClr val="143B59"/>
          </a:solidFill>
          <a:ln w="12700">
            <a:solidFill>
              <a:srgbClr val="284B6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09560" y="98755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4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NESTING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91272" y="1490472"/>
            <a:ext cx="3255264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19288" y="158191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HVAC ledger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2112264"/>
            <a:ext cx="2743200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20370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ERV / coil endpoints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03336" y="2734056"/>
            <a:ext cx="2231136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31352" y="282549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two-stream 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59368" y="3355848"/>
            <a:ext cx="1719072" cy="466344"/>
          </a:xfrm>
          <a:prstGeom prst="roundRect">
            <a:avLst>
              <a:gd name="adj" fmla="val 15686"/>
            </a:avLst>
          </a:prstGeom>
          <a:solidFill>
            <a:srgbClr val="173F5C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87384" y="3447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15400" y="3977640"/>
            <a:ext cx="1207008" cy="466344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43416" y="406908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membrane BVP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18904" y="4764024"/>
            <a:ext cx="0" cy="521208"/>
          </a:xfrm>
          <a:prstGeom prst="line">
            <a:avLst/>
          </a:prstGeom>
          <a:noFill/>
          <a:ln w="3175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101584" y="5440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9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physics → system response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" y="63093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FA7B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basis: controlled repository state, 02 September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SCOPE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being reviewed—and what is not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11247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review target is the model formulation and implementation, not the commercial viability claim.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64008" cy="18470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Reviewed model object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moist-air states coupled to voltage-controlled water transport through an active membrane, integrated across an ERV core and linked to a reduced cooling-coil model.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572768"/>
            <a:ext cx="64008" cy="184708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review questions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the governing equations internally consistent?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boundary conditions physically admissible?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numerical roots and balances closed?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assumptions visible?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83296" y="1572768"/>
            <a:ext cx="345643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572768"/>
            <a:ext cx="64008" cy="184708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4464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Excluded from proof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011680"/>
            <a:ext cx="31089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Commercial membrane availability, long-term durability, complete receiver hardware, full thermal management, CAPEX and annual building performance.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5079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OUTPUTS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2374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J AND NW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636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2122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ACTIVITIES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397764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18704" y="398678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AREA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2374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BALANCE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6636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2122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POWER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63840" y="4544568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18704" y="45537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REMAINING COIL POWER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6875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principle: distinguish numerical verification, experimental validation and system closure.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DEFINITION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 and nested control volumes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64208"/>
            <a:ext cx="64008" cy="1353312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CV-1  Outdoor / return air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psychrometric states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054096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38144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1664208"/>
            <a:ext cx="64008" cy="135331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CV-2  Active ERV core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heat + passive moisture + EO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70448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54496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664208"/>
            <a:ext cx="64008" cy="1353312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CV-3  Cooling coil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ADP, condensate, reheat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0" y="2340864"/>
            <a:ext cx="329184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0848" y="1664208"/>
            <a:ext cx="239572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1664208"/>
            <a:ext cx="64008" cy="13533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2016" y="178308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CV-4  Power ledger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10312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compressor + fans + EO + losses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673352" y="3456432"/>
            <a:ext cx="7004304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024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CV-2 is itself nested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84832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12848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40480" y="4416552"/>
            <a:ext cx="292608" cy="0"/>
          </a:xfrm>
          <a:prstGeom prst="line">
            <a:avLst/>
          </a:prstGeom>
          <a:noFill/>
          <a:ln w="2286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9664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97680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x ∈ [0,L]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25312" y="4416552"/>
            <a:ext cx="292608" cy="0"/>
          </a:xfrm>
          <a:prstGeom prst="line">
            <a:avLst/>
          </a:prstGeom>
          <a:noFill/>
          <a:ln w="2286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54496" y="4133088"/>
            <a:ext cx="1719072" cy="566928"/>
          </a:xfrm>
          <a:prstGeom prst="roundRect">
            <a:avLst>
              <a:gd name="adj" fmla="val 12903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2512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120" y="3456432"/>
            <a:ext cx="2578608" cy="1627632"/>
          </a:xfrm>
          <a:prstGeom prst="roundRect">
            <a:avLst>
              <a:gd name="adj" fmla="val 4494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17152" y="368503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 contract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244584" y="41696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water removed from process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water gained by receiver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 used in the selected interpretation: EO embedded in the ERV membrane; no separate post-ERV EO stage.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HIERARCHY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Canonical numerical chain and source ownership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36776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6367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819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transport (V2)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581912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activity + voltage; analytical power-law or H-Nafion BVP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5819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AFC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heiq_pre_receiver_material_analyses/heiq_pre_receiver_model.py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1042416" y="2176272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340864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487168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24871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4323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process integration (V3)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432304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state re-solved as process humidity changes with area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4323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347BC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src/heiq/wp1/axial/*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1042416" y="3026664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3191256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" y="3337560"/>
            <a:ext cx="384048" cy="384048"/>
          </a:xfrm>
          <a:prstGeom prst="ellipse">
            <a:avLst/>
          </a:prstGeom>
          <a:solidFill>
            <a:srgbClr val="00B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0392" y="3337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2826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gas receiver (V12.1)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3282696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and receiver updated with the same transported water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28269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B9A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src/heiq/wp1/receiver/coupled_integration.py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1042416" y="3877056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" y="4041648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187952"/>
            <a:ext cx="384048" cy="384048"/>
          </a:xfrm>
          <a:prstGeom prst="ellipse">
            <a:avLst/>
          </a:prstGeom>
          <a:solidFill>
            <a:srgbClr val="F39A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187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1330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active-ERV screening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069080" y="4133088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endpoints + segmented local sizing + coil linkage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13308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39A5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src/heiq/wp1/studies/direct_eo_erv.py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1042416" y="4727448"/>
            <a:ext cx="0" cy="146304"/>
          </a:xfrm>
          <a:prstGeom prst="line">
            <a:avLst/>
          </a:prstGeom>
          <a:noFill/>
          <a:ln w="1778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8368" y="4892040"/>
            <a:ext cx="108996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" y="5038344"/>
            <a:ext cx="384048" cy="38404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" y="50383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9834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Study / optimisation workflows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069080" y="498348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targets, parameter sweeps, basis checks and result auditing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983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B1F33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src/heiq/wp1/studies/* and scripts/*</a:t>
            </a:r>
            <a:endParaRPr lang="en-US" sz="840" dirty="0"/>
          </a:p>
        </p:txBody>
      </p:sp>
      <p:sp>
        <p:nvSpPr>
          <p:cNvPr id="38" name="Text 3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Controlled model map: docs/MODEL_CHAIN.md. Research models; generated outputs should be reproducible from source.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MATHEMATICAL BASIS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Coordinates, signs and conserved quantities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6967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/ SOURCE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724144" y="1783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56816" y="2221992"/>
            <a:ext cx="4242816" cy="658368"/>
          </a:xfrm>
          <a:prstGeom prst="roundRect">
            <a:avLst>
              <a:gd name="adj" fmla="val 11111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2386584"/>
            <a:ext cx="3986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thickness  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38528" y="3127248"/>
            <a:ext cx="4297680" cy="0"/>
          </a:xfrm>
          <a:prstGeom prst="line">
            <a:avLst/>
          </a:prstGeom>
          <a:noFill/>
          <a:ln w="3429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755648" y="314553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314553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993392"/>
            <a:ext cx="1892808" cy="0"/>
          </a:xfrm>
          <a:prstGeom prst="line">
            <a:avLst/>
          </a:prstGeom>
          <a:noFill/>
          <a:ln w="27940">
            <a:solidFill>
              <a:srgbClr val="F39A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255264" y="174650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Nw and j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82128" y="1527048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1527048"/>
            <a:ext cx="64008" cy="201168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83296" y="16459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conserved rate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83296" y="1965960"/>
            <a:ext cx="33101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local water flux Nw [mol m⁻² s⁻¹].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Integrated transfer is obtained from ∫A Nw dA and must match both air-stream balances.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583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904488"/>
            <a:ext cx="64008" cy="1325880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ratio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 = kg water / kg dry air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4015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3904488"/>
            <a:ext cx="64008" cy="1325880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027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activity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 = pv / psat(T)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1447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3904488"/>
            <a:ext cx="64008" cy="1325880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459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sign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j follows source → receiver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887968" y="3904488"/>
            <a:ext cx="24871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87968" y="3904488"/>
            <a:ext cx="64008" cy="1325880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89136" y="402336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Thermal basis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089136" y="4343400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bulk states; no dynamic storage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Positive-flux convention is declared in heiq_pre_receiver_model.py and used by the axial/receiver APIs.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AIR-SIDE PROPERTY LAYER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Moist-air states are calculated on a dry-air basis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psat(T) = Buck equation over liquid water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22199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6771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0.621945 · pv / (p − pv)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295351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99923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 = pv / psat(T)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68503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730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1.006T + w(2501 + 1.86T)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416552"/>
            <a:ext cx="3438144" cy="594360"/>
          </a:xfrm>
          <a:prstGeom prst="roundRect">
            <a:avLst>
              <a:gd name="adj" fmla="val 12308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46227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Rd T(1 + 1.6078w) / 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490472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1773936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6592" y="178308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 VECTOR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32257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T, RH, w, h, Tdew, v, p }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736592" y="2962656"/>
            <a:ext cx="2724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RH and activity are numerically identical for ideal moist air at the same temperature basis.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Humidity ratio, not RH, is the conserved air-stream water coordinate.</a:t>
            </a:r>
            <a:endParaRPr lang="en-US" sz="1150" dirty="0"/>
          </a:p>
          <a:p>
            <a:pPr marL="190500" indent="-190500">
              <a:buSzPct val="100000"/>
              <a:buChar char="•"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rejects vapor pressure ≥ total pressure and negative humidity ratio.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1490472"/>
            <a:ext cx="3438144" cy="3520440"/>
          </a:xfrm>
          <a:prstGeom prst="roundRect">
            <a:avLst>
              <a:gd name="adj" fmla="val 212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77393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1B4A68"/>
          </a:solidFill>
          <a:ln w="12700">
            <a:solidFill>
              <a:srgbClr val="1B4A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78308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AIRFLOW BASIS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actual inlet CFM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660904"/>
            <a:ext cx="2633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dry-air mass flow derived from dry-air partial pressure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85632" y="3401568"/>
            <a:ext cx="2670048" cy="0"/>
          </a:xfrm>
          <a:prstGeom prst="line">
            <a:avLst/>
          </a:prstGeom>
          <a:noFill/>
          <a:ln w="12700">
            <a:solidFill>
              <a:srgbClr val="31556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9056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 standard dry-air CFM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041648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AE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reference T and p explicitly declared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407408" y="5385816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basis must not change silently between cases.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src/heiq/wp1/airside/properties.py. Saturation pressure: Buck correlation.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REFERENCE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ERV endpoints are effectiveness-based and balance-closed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TOA,out = TOA,in − εs,eff(TOA,in − Texh,in)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34086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86584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wOA,out = wOA,in − εl,eff(wOA,in − wexh,in)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191256"/>
            <a:ext cx="4050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εeff = ε · min(1, ṁexh / ṁOA)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776472"/>
            <a:ext cx="5120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776472"/>
            <a:ext cx="64008" cy="13898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8953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Endpoint closure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215384"/>
            <a:ext cx="4773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outlet humidity is obtained from the water balance. Receiver outlet enthalpy is obtained from the total moist-air enthalpy balance.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089904" y="1536192"/>
            <a:ext cx="5449824" cy="3630168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10512"/>
            <a:ext cx="168249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8196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ACCEPTANCE CHECKS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234086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3317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≤ sensible and latent effectiveness ≤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276148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27523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dry-air flows and fan efficiency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1821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1729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03136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water-balance residual finite and closed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6027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5935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03136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enthalpy-balance residual finite and closed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402336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401421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03136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supersaturated outlet state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444398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443484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03136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both-side pressure-drop fan power included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89904" y="5404104"/>
            <a:ext cx="5449824" cy="576072"/>
          </a:xfrm>
          <a:prstGeom prst="roundRect">
            <a:avLst>
              <a:gd name="adj" fmla="val 12698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36208" y="5449824"/>
            <a:ext cx="5157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Pfan = [ṁOA vOA Δp + ṁexh vexh Δp] / ηfan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run_erv() in src/heiq/wp1/studies/direct_eo_erv.py.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EXTERNAL MASS TRANSFER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gas films connect bulk air to membrane surface 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45336"/>
            <a:ext cx="367588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Ks(as,bulk − as,surface)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367588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77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Kr(ar,surface − ar,bulk)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45152" y="1545336"/>
            <a:ext cx="6894576" cy="2862072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DH = 2G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parallel-plate hydraulic diameter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74536" y="1965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22592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77456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 = ΡUDH/Μ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flow regime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14232" y="1965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62288" y="1810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17152" y="1819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 = Μ/(ΡDV)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2176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momentum / vapor diffusivity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82896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SH(RE,SC)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7.54 laminar; smooth transition; turbulent screen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74536" y="3108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22592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77456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KG = SHDV/DH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transfer coefficient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14232" y="3108960"/>
            <a:ext cx="301752" cy="0"/>
          </a:xfrm>
          <a:prstGeom prst="line">
            <a:avLst/>
          </a:prstGeom>
          <a:noFill/>
          <a:ln w="1905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62288" y="2953512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17152" y="2962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KACTIVITY = SCALE · KG · CSAT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162288" y="3319272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mol m⁻² s⁻¹ per activity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" y="4681728"/>
            <a:ext cx="10881360" cy="1060704"/>
          </a:xfrm>
          <a:prstGeom prst="roundRect">
            <a:avLst>
              <a:gd name="adj" fmla="val 689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2688" y="491947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implication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551176" y="483717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high intrinsic membrane flux does not guarantee a high system flux. Film coefficients depend on temperature, channel gap, velocity, pressure and the selected correlation regime.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calculate_film_state() in src/heiq/wp1/airside/properties.py.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water flux combines EO drag and Fickian back-diffusion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" y="1499616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54533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Nw = nd(aw) · j/F − Dw(aw) Sw(aw) · daw/dx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86384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E2F5F2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569464"/>
            <a:ext cx="64008" cy="161848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contribution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NEO = nd j/F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(or tw) is mol H₂O transported per mol elementary charge.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62272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E6F0FA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2569464"/>
            <a:ext cx="64008" cy="161848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Diffusive contribution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Ndiff = −Dw Sw daw/dx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sign follows the local activity gradient and can oppose EO.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2569464"/>
            <a:ext cx="3246120" cy="1618488"/>
          </a:xfrm>
          <a:prstGeom prst="roundRect">
            <a:avLst>
              <a:gd name="adj" fmla="val 4520"/>
            </a:avLst>
          </a:prstGeom>
          <a:solidFill>
            <a:srgbClr val="FFF0E2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569464"/>
            <a:ext cx="64008" cy="161848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688336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Steady-state constraint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3008376"/>
            <a:ext cx="28986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Nw is spatially constant through a 1D membrane with no internal water source, sink or accumulation.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450592" y="4416552"/>
            <a:ext cx="7260336" cy="0"/>
          </a:xfrm>
          <a:prstGeom prst="line">
            <a:avLst/>
          </a:prstGeom>
          <a:noFill/>
          <a:ln w="3302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297680" y="4553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positive transport: process → receiver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5065776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248656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class: one-dimensional, steady, isothermal within each local solve; local properties vary with water activity.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Governing equations declared in heiq_pre_receiver_material_analyses/heiq_pre_receiver_model.py.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CONSTITUTIVE CLOSURE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Material properties are local functions of water activity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72768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D(aw) = Dref (aw/aref)^pD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59152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404872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σ(aw) = σref (aw/aref)^pσ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191256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236976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S(aw) = Sref (aw/aref)^pS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4023360"/>
            <a:ext cx="3364992" cy="676656"/>
          </a:xfrm>
          <a:prstGeom prst="roundRect">
            <a:avLst>
              <a:gd name="adj" fmla="val 10811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069080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B(aw) = D(aw)S(aw)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52544" y="1527048"/>
            <a:ext cx="3337560" cy="3172968"/>
          </a:xfrm>
          <a:prstGeom prst="roundRect">
            <a:avLst>
              <a:gd name="adj" fmla="val 2305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819656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INVERSE-DESIGN VECTOR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368296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nd, Dref, σref, Sref, L, pD, pσ, pS, ASRseries }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593592"/>
            <a:ext cx="2688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C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feasible point is a simultaneous property combination—not evidence that one real material exhibits the full vector.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19288" y="1527048"/>
            <a:ext cx="3520440" cy="3172968"/>
          </a:xfrm>
          <a:prstGeom prst="roundRect">
            <a:avLst>
              <a:gd name="adj" fmla="val 230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0184" y="1819656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5048" y="182880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HYDRATION FEEDBACK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21624" y="2331720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76488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AW ↓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74936" y="2642616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21624" y="2770632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76488" y="27797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Σ 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774936" y="3081528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21624" y="3209544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76488" y="32186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ASR ↑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774936" y="3520440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21624" y="3648456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76488" y="36576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 ↓ AT FIXED V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774936" y="3959352"/>
            <a:ext cx="0" cy="109728"/>
          </a:xfrm>
          <a:prstGeom prst="line">
            <a:avLst/>
          </a:prstGeom>
          <a:noFill/>
          <a:ln w="1524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21624" y="4087368"/>
            <a:ext cx="2706624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76488" y="409651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EO FLUX ↓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8368" y="5029200"/>
            <a:ext cx="10881360" cy="722376"/>
          </a:xfrm>
          <a:prstGeom prst="roundRect">
            <a:avLst>
              <a:gd name="adj" fmla="val 1012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6112" y="521208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is an input for the material-neutral power-law model; it is not derived from D, S or σ.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alternative H-Nafion implementation derives local hydration-dependent D, σ, S and drag from declared correlations.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ELECTROCHEMICAL CLOSURE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voltage equation contains ohmic and water-activity terms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10735056" cy="713232"/>
          </a:xfrm>
          <a:prstGeom prst="roundRect">
            <a:avLst>
              <a:gd name="adj" fmla="val 10256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527048"/>
            <a:ext cx="10442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dV/dx = j/σ(aw) + nd(aw) RT/F · d ln(aw)/dx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523744"/>
            <a:ext cx="64008" cy="1527048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ohmic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Vohm = j ∫₀ᴸ dx/σ(aw)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hydration-dependent ASR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4015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523744"/>
            <a:ext cx="64008" cy="1527048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27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polarization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Vwater = ∫ nd RT/F · d ln aw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reversible activity work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47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2523744"/>
            <a:ext cx="64008" cy="1527048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Series resistance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Vseries = j · ASRseries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contacts and current collectors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887968" y="2523744"/>
            <a:ext cx="2487168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87968" y="2523744"/>
            <a:ext cx="64008" cy="1527048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89136" y="26426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voltage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962656"/>
            <a:ext cx="21396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Vfixed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/ declared lower-bound loss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97280" y="4425696"/>
            <a:ext cx="9966960" cy="704088"/>
          </a:xfrm>
          <a:prstGeom prst="roundRect">
            <a:avLst>
              <a:gd name="adj" fmla="val 1039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43584" y="4471416"/>
            <a:ext cx="9674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Vterminal = Vohm + Vwater + Vseries + Vfixed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97280" y="5404104"/>
            <a:ext cx="9966960" cy="438912"/>
          </a:xfrm>
          <a:prstGeom prst="roundRect">
            <a:avLst>
              <a:gd name="adj" fmla="val 1666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53312" y="5504688"/>
            <a:ext cx="9454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Applied terminal voltage is the control input; current density is the solved response.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accounting uses applied terminal voltage, not a nominal voltage cap.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BOUNDARY-VALUE 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Gas-film equations determine the membrane surface activities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0881360" cy="198424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647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SOURCE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44368" y="175564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9232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SOURCE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44968" y="1755648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9832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RECEIVER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912096" y="1755648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17647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RECEIVER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50008" y="2560320"/>
            <a:ext cx="576072" cy="0"/>
          </a:xfrm>
          <a:prstGeom prst="line">
            <a:avLst/>
          </a:prstGeom>
          <a:noFill/>
          <a:ln w="279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53128" y="2560320"/>
            <a:ext cx="3255264" cy="0"/>
          </a:xfrm>
          <a:prstGeom prst="line">
            <a:avLst/>
          </a:prstGeom>
          <a:noFill/>
          <a:ln w="3810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45168" y="2560320"/>
            <a:ext cx="539496" cy="0"/>
          </a:xfrm>
          <a:prstGeom prst="line">
            <a:avLst/>
          </a:prstGeom>
          <a:noFill/>
          <a:ln w="279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505456" y="2249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222199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1D membrane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482328" y="224942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9A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776472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822192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as,surf = as,bulk − Nw/Ks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70832" y="3776472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17136" y="3822192"/>
            <a:ext cx="3136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ar,surf = ar,bulk + Nw/Kr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83296" y="3776472"/>
            <a:ext cx="3456432" cy="658368"/>
          </a:xfrm>
          <a:prstGeom prst="roundRect">
            <a:avLst>
              <a:gd name="adj" fmla="val 111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3822192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&lt; as,surf, ar,surf &lt; 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4736592"/>
            <a:ext cx="52852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736592"/>
            <a:ext cx="64008" cy="941832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4855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flux bracket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5175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films impose row-specific lower and upper flux bounds before a surface reaches aw = 0 or 1.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36208" y="4736592"/>
            <a:ext cx="530352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4736592"/>
            <a:ext cx="64008" cy="941832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8554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Surface-direction audit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5175504"/>
            <a:ext cx="4956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Midpoint and n+1 segment-boundary states are checked so a limiting end state is not hidden.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bounds use ACTIVITY_EPS = 1×10⁻⁷. Surface violations fail the local solution.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SOLVER 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power-law model reduces to a monotone scalar flux equation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10881360" cy="704088"/>
          </a:xfrm>
          <a:prstGeom prst="roundRect">
            <a:avLst>
              <a:gd name="adj" fmla="val 1039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27048"/>
            <a:ext cx="105887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R(Nw) = Nw − nd j/F + (Bref/L) ∫as,surf^ar,surf (a/aref)^(pD+pS) da = 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523744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660904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EXACT POWER-LAW REDUCTION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99232"/>
            <a:ext cx="463600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derive admissible flux interval from films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initialize with mean-property conductance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update surface activities from Nw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 evaluate exact power-law integral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 Newton update Nw within physical bracket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 reconstruct ASR and voltage components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  accept only if residual and surfaces pass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053328" y="2523744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2779776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78892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THIS IS USEFUL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19088" y="326440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Constant drag removes the need for a spatial BVP solve.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D, S and σ still vary locally through analytical power-law integrals.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flux residual tolerance is evaluated explicitly.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activity profile can be reconstructed exactly after convergence.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82512" y="4901184"/>
            <a:ext cx="4809744" cy="457200"/>
          </a:xfrm>
          <a:prstGeom prst="roundRect">
            <a:avLst>
              <a:gd name="adj" fmla="val 16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4946904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ASRmem = L · [∫ a^(pD+pS−pσ) da] / [σref ∫ a^(pD+pS) da]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screening configuration: 12 Newton flux iterations; relative flux residual tolerance 1×10⁻⁷.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SOLVER B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H-Nafion branch solves activity and voltage as a nonlinear BVP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084064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764792"/>
            <a:ext cx="2322576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17739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UNKNOWN FIELDS AND PARAMETERS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2249424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295144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y(ξ) = [ aw(ξ), V(ξ) 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0120" y="2907792"/>
            <a:ext cx="4462272" cy="548640"/>
          </a:xfrm>
          <a:prstGeom prst="roundRect">
            <a:avLst>
              <a:gd name="adj" fmla="val 13333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6424" y="2953512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[ Nw, j 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120" y="3566160"/>
            <a:ext cx="4462272" cy="603504"/>
          </a:xfrm>
          <a:prstGeom prst="roundRect">
            <a:avLst>
              <a:gd name="adj" fmla="val 1212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6424" y="3611880"/>
            <a:ext cx="4169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daw/dξ = L[nd j/F − Nw]/[D S]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279392"/>
            <a:ext cx="4462272" cy="667512"/>
          </a:xfrm>
          <a:prstGeom prst="roundRect">
            <a:avLst>
              <a:gd name="adj" fmla="val 1095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06424" y="4325112"/>
            <a:ext cx="4169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dV/dξ = L j/σ + nd RT/F · (1/aw)daw/dξ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21208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 = x/L ∈ [0,1]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62472" y="1481328"/>
            <a:ext cx="5477256" cy="4315968"/>
          </a:xfrm>
          <a:prstGeom prst="roundRect">
            <a:avLst>
              <a:gd name="adj" fmla="val 1695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764792"/>
            <a:ext cx="2148840" cy="292608"/>
          </a:xfrm>
          <a:prstGeom prst="roundRect">
            <a:avLst>
              <a:gd name="adj" fmla="val 25000"/>
            </a:avLst>
          </a:prstGeom>
          <a:solidFill>
            <a:srgbClr val="1C4A68"/>
          </a:solidFill>
          <a:ln w="12700">
            <a:solidFill>
              <a:srgbClr val="1C4A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177393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BOUNDARY CONDITIONS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226771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aw(0) = as,bulk − Nw/Ks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0" y="290779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47104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aw(1) = ar,bulk + Nw/Kr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354787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47104" y="35935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V(0) = 0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4187952"/>
            <a:ext cx="4773168" cy="475488"/>
          </a:xfrm>
          <a:prstGeom prst="roundRect">
            <a:avLst>
              <a:gd name="adj" fmla="val 15385"/>
            </a:avLst>
          </a:prstGeom>
          <a:solidFill>
            <a:srgbClr val="1A4563"/>
          </a:solidFill>
          <a:ln w="12700">
            <a:solidFill>
              <a:srgbClr val="1A45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47104" y="4233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V(1) = Vapplied − Vfixed − jASRseries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0109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CE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λ(aw), D(λ,T), σ(λ,T), S(aw) and nd(λ) are evaluated inside the ODE.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SciPy solve_bvp; default tolerance 2×10⁻⁵ and maximum 400 mesh nodes. Correlation-domain validity is reported separately.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CONTROL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is obtained by a bracketed root solve at each local 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4882896" cy="4361688"/>
          </a:xfrm>
          <a:prstGeom prst="roundRect">
            <a:avLst>
              <a:gd name="adj" fmla="val 1677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4517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→ CURRENT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984248"/>
            <a:ext cx="44439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given Vapplied</a:t>
            </a:r>
            <a:endParaRPr lang="en-US" sz="1020" dirty="0"/>
          </a:p>
          <a:p>
            <a:pPr algn="l" indent="0" marL="0">
              <a:buNone/>
            </a:pP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set jlow = 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derive jhigh from gas-film surface limit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solve local flux/profile at jlow and jhigh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  verify Vapplied is bracketed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  bisect current interval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  re-solve local state at jmid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  stop when |Vcalc − Vapplied| ≤ tolerance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870448" y="1508760"/>
            <a:ext cx="5669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81344" y="1792224"/>
            <a:ext cx="2221992" cy="292608"/>
          </a:xfrm>
          <a:prstGeom prst="roundRect">
            <a:avLst>
              <a:gd name="adj" fmla="val 250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801368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NUMERICAL CONTROLS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228600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Bisection iterations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81744" y="228600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58775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Absolute voltage tolerance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381744" y="25877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× 10⁻⁶ V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8895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voltage tolerance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889504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× 10⁻⁶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319125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Internal search ceiling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381744" y="3191256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numerical guard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70448" y="3858768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4123944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BE1C8"/>
          </a:solidFill>
          <a:ln w="12700">
            <a:solidFill>
              <a:srgbClr val="FBE1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4133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599432"/>
            <a:ext cx="4956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internal current ceiling bounds the root search. It is not an engineering acceptance limit.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517550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legacy 21 A/m² acceptance gate has been superseded. Current density is reported as a diagnostic unless an explicit sensitivity is declared.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implementation: solve_powerlaw_voltage_control().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FAIL-CLOSED BEHAVIOR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states are rejected with explicit failure categories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248656" cy="4224528"/>
          </a:xfrm>
          <a:prstGeom prst="roundRect">
            <a:avLst>
              <a:gd name="adj" fmla="val 1732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755648"/>
            <a:ext cx="2020824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647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FOR ACCEPTANCE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87552" y="23317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322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bracket exists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27889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7797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profile / scalar solve converged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2461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2369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&lt; surface activities &lt;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37033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6941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positive current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1605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1513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finite positive net flux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7552" y="461772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" y="4608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terminal-voltage reconstruction passes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481328"/>
            <a:ext cx="5321808" cy="4224528"/>
          </a:xfrm>
          <a:prstGeom prst="roundRect">
            <a:avLst>
              <a:gd name="adj" fmla="val 1732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9672" y="1755648"/>
            <a:ext cx="1947672" cy="292608"/>
          </a:xfrm>
          <a:prstGeom prst="roundRect">
            <a:avLst>
              <a:gd name="adj" fmla="val 25000"/>
            </a:avLst>
          </a:prstGeom>
          <a:solidFill>
            <a:srgbClr val="F6D4D2"/>
          </a:solidFill>
          <a:ln w="12700">
            <a:solidFill>
              <a:srgbClr val="F6D4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74536" y="17647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REPORTED FAILURE MODES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65392" y="23317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65392" y="2322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below reversible voltage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65392" y="27889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27797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76288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physical/profile bracket failure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65392" y="32461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65392" y="32369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root non-convergence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65392" y="37033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65392" y="36941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876288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activity profile out of bounds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65392" y="41605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65392" y="41513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876288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non-positive water flux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65392" y="461772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65392" y="460857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76288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internal search ceiling encountered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9070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or failed components remain unavailable; they are not silently set to zero.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Failure mapping: status_category() and coupled_local_gate().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PROCESS INTEGRATION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local membrane problem is re-solved as the air state changes with area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858768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270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dwprocess/dA = −Mw Nw / ṁda,process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267712"/>
            <a:ext cx="3858768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13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dTprocess/dA = fheat(Vj) / [ṁda cp,moist]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218688"/>
            <a:ext cx="38587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3218688"/>
            <a:ext cx="64008" cy="1444752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3375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Thermal modes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65760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Isothermal: dT/dA = 0.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Adiabatic upper bound: a declared fraction of local cell power heats the process air.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828032" y="1481328"/>
            <a:ext cx="4251960" cy="3182112"/>
          </a:xfrm>
          <a:prstGeom prst="roundRect">
            <a:avLst>
              <a:gd name="adj" fmla="val 2299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10912" y="161848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PREDICTOR–CORRECTOR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956816"/>
            <a:ext cx="381304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each area step ΔA: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solve local state at step start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predict w and T at step end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solve local state at predicted end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halve ΔA if end state fails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integrate mean flux and mean power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shorten final step exactly at target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8F2F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update air state and continue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390888" y="1481328"/>
            <a:ext cx="2148840" cy="318211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47504" y="177393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1783080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646920" y="229514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46920" y="22860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948672" y="22677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event resolved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646920" y="273405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27249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948672" y="27066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integral = air balance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46920" y="31729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31638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948672" y="31455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integrated by area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646920" y="361188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46920" y="3602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948672" y="3584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max j / min Nw retained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9646920" y="405079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404164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948672" y="40233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 failure categorized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58368" y="498348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" y="51846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area is the integration coordinate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648456" y="513892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duty is proportional to local flux × active area, and the required total area is an output.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Native derivative and local-state interfaces: src/heiq/wp1/axial/local_state.py and axial/integration.py.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TWO-STREAM INTEGRATION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local flux updates process and receiver water balances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108813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74520"/>
            <a:ext cx="9875520" cy="0"/>
          </a:xfrm>
          <a:prstGeom prst="line">
            <a:avLst/>
          </a:prstGeom>
          <a:noFill/>
          <a:ln w="406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927080" y="2487168"/>
            <a:ext cx="-9875520" cy="0"/>
          </a:xfrm>
          <a:prstGeom prst="line">
            <a:avLst/>
          </a:prstGeom>
          <a:noFill/>
          <a:ln w="406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124712" y="159105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direction  +A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25511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receiver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61288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2048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4352" y="2020824"/>
            <a:ext cx="758952" cy="320040"/>
          </a:xfrm>
          <a:prstGeom prst="roundRect">
            <a:avLst>
              <a:gd name="adj" fmla="val 22857"/>
            </a:avLst>
          </a:prstGeom>
          <a:solidFill>
            <a:srgbClr val="EAF1F4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55264"/>
            <a:ext cx="3383280" cy="612648"/>
          </a:xfrm>
          <a:prstGeom prst="roundRect">
            <a:avLst>
              <a:gd name="adj" fmla="val 1194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33009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Δṁw = N̄w Mw ΔA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15968" y="3255264"/>
            <a:ext cx="3383280" cy="612648"/>
          </a:xfrm>
          <a:prstGeom prst="roundRect">
            <a:avLst>
              <a:gd name="adj" fmla="val 1194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33009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wP,next = wP − Δṁw/ṁP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73568" y="3255264"/>
            <a:ext cx="3566160" cy="612648"/>
          </a:xfrm>
          <a:prstGeom prst="roundRect">
            <a:avLst>
              <a:gd name="adj" fmla="val 11940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3300984"/>
            <a:ext cx="32735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wR,next = wR ± Δṁw/ṁR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8368" y="4169664"/>
            <a:ext cx="5257800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169664"/>
            <a:ext cx="64008" cy="128930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288536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boundary construction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" y="4608576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starts at the process inlet paired with the receiver outlet. That receiver outlet is conditioned by the target and the global water balance.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17920" y="4169664"/>
            <a:ext cx="5321808" cy="1289304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169664"/>
            <a:ext cx="64008" cy="1289304"/>
          </a:xfrm>
          <a:prstGeom prst="rect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4288536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Published only when closed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4608576"/>
            <a:ext cx="49743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the process target is not reached, the assumed counter-current receiver outlet is not a solved physical boundary and is returned as unavailable.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7698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residuals: process balance + receiver balance + counter-current far-end boundary.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integrate_coupled_receiver_case() in src/heiq/wp1/receiver/coupled_integration.py.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ACTIVE-ERV SCREENING PATH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endpoints are interpolated, then each segment is locally sized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16152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Choose process outlet 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defines requested total water duty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240280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8104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18104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60904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Close receiver endpoint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transferred water; balanced dry-air flows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142232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16552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0056" y="1517904"/>
            <a:ext cx="384048" cy="384048"/>
          </a:xfrm>
          <a:prstGeom prst="ellipse">
            <a:avLst/>
          </a:prstGeom>
          <a:solidFill>
            <a:srgbClr val="347B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0056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Prescribe sensible endpoint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effectiveness-based process temperature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044184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18504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1517904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2008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Interpolate bulk states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typically 8 counter-current segments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946136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20456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517904"/>
            <a:ext cx="384048" cy="384048"/>
          </a:xfrm>
          <a:prstGeom prst="ellipse">
            <a:avLst/>
          </a:prstGeom>
          <a:solidFill>
            <a:srgbClr val="00AF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Solve local membrane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midpoints plus n+1 physical boundaries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848088" y="2843784"/>
            <a:ext cx="219456" cy="0"/>
          </a:xfrm>
          <a:prstGeom prst="line">
            <a:avLst/>
          </a:prstGeom>
          <a:noFill/>
          <a:ln w="24130">
            <a:solidFill>
              <a:srgbClr val="00AFC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22408" y="1737360"/>
            <a:ext cx="1600200" cy="235000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25912" y="1517904"/>
            <a:ext cx="384048" cy="384048"/>
          </a:xfrm>
          <a:prstGeom prst="ellipse">
            <a:avLst/>
          </a:prstGeom>
          <a:solidFill>
            <a:srgbClr val="00B9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25912" y="1517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268712" y="206654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Size and integrate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843784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= ṅw,i/Nw,i; P = ΣVi ji Ai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58368" y="4526280"/>
            <a:ext cx="6729984" cy="1051560"/>
          </a:xfrm>
          <a:prstGeom prst="roundRect">
            <a:avLst>
              <a:gd name="adj" fmla="val 6957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47274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Reduced-order assumption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663440"/>
            <a:ext cx="40782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T and w are interpolated between balanced endpoints; they are not obtained from a conjugate axial heat-and-mass PDE.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53528" y="45262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E2F5F2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27848" y="4727448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 robustness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9528048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segments require n+1 boundary solves so midpoint-only feasibility cannot hide an end-state reversal.</a:t>
            </a:r>
            <a:endParaRPr lang="en-US" sz="1030" dirty="0"/>
          </a:p>
        </p:txBody>
      </p:sp>
      <p:sp>
        <p:nvSpPr>
          <p:cNvPr id="45" name="Text 43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build_direct_eo_endpoints(), build_segments() and solve_segmented_transport().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TOPOLOGY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integration paths answer different questions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5285232" cy="4297680"/>
          </a:xfrm>
          <a:prstGeom prst="roundRect">
            <a:avLst>
              <a:gd name="adj" fmla="val 1702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78308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C8EDE7"/>
          </a:solidFill>
          <a:ln w="12700">
            <a:solidFill>
              <a:srgbClr val="C8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7922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 A • COUPLED V12.1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26771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State-marching receiver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2770632"/>
            <a:ext cx="45079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and receiver humidity evolve step by step with area.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membrane problem is re-solved at start and end of each step.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outlet is conditioned and audited at the far end.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Adaptive step halving and exact target-event shortening.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 target-reaching area / receiver sensitivity studies.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36208" y="1490472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783080"/>
            <a:ext cx="2258568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01968" y="17922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 B • DIRECT ACTIVE ERV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26771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Endpoint-segmented screening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11112" y="2770632"/>
            <a:ext cx="4507992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Balanced process and receiver endpoints are constructed first.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states are linearly interpolated through a fixed segment count.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segment is sized at a representative local state.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Explicit boundary-state direction and voltage audits are added.</a:t>
            </a:r>
            <a:endParaRPr lang="en-US" sz="1220" dirty="0"/>
          </a:p>
          <a:p>
            <a:pPr marL="190500" indent="-190500">
              <a:buSzPct val="100000"/>
              <a:buChar char="•"/>
            </a:pPr>
            <a:r>
              <a:rPr lang="en-US" sz="12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Best for fast architecture / material frontier screening.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143000" y="5166360"/>
            <a:ext cx="9921240" cy="411480"/>
          </a:xfrm>
          <a:prstGeom prst="roundRect">
            <a:avLst>
              <a:gd name="adj" fmla="val 17778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5248656"/>
            <a:ext cx="9464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Outputs from the two paths are not interchangeable unless material, geometry, receiver and numerical basis are matched.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distinction explains why different O30 area studies can produce different—but internally valid—numbers.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COOLING-COIL COUPLING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Remaining latent and sensible duty is solved from a reduced ADP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9616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45336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wtarget = BF · win + (1 − BF) · wADP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3172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hoff = BF · hin + (1 − BF) · hADP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072384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11810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Q̇cool = ṁda(hin − hoff)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858768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90448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ṁcond = ṁda(win − woff)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645152"/>
            <a:ext cx="4937760" cy="640080"/>
          </a:xfrm>
          <a:prstGeom prst="roundRect">
            <a:avLst>
              <a:gd name="adj" fmla="val 11429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690872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Pcomp = Q̇cool / COP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25312" y="1499616"/>
            <a:ext cx="5614416" cy="2249424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79222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18013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COP SCALING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54496" y="2286000"/>
            <a:ext cx="4937760" cy="585216"/>
          </a:xfrm>
          <a:prstGeom prst="roundRect">
            <a:avLst>
              <a:gd name="adj" fmla="val 125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33172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COPCarnot = Tevap / (Tcond − Tevap)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017520"/>
            <a:ext cx="4919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COP = COPrated [1 + ηcons(COPCarnot/COPCarnot,rated − 1)]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25312" y="4059936"/>
            <a:ext cx="5614416" cy="1225296"/>
          </a:xfrm>
          <a:prstGeom prst="roundRect">
            <a:avLst>
              <a:gd name="adj" fmla="val 5970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6208" y="42885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Physical checks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4233672"/>
            <a:ext cx="3429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off-coil RH ≤ 1; supply RH ≤ 1; finite COP; reheat mode explicitly declared; “none” is invalid if reheat is required.</a:t>
            </a:r>
            <a:endParaRPr lang="en-US" sz="1160" dirty="0"/>
          </a:p>
        </p:txBody>
      </p:sp>
      <p:sp>
        <p:nvSpPr>
          <p:cNvPr id="23" name="Text 21"/>
          <p:cNvSpPr txBox="1"/>
          <p:nvPr/>
        </p:nvSpPr>
        <p:spPr>
          <a:xfrm>
            <a:off x="5925312" y="5596128"/>
            <a:ext cx="5614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coil is a reduced endpoint model—not a refrigerant-cycle simulation.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solve_coil() and _scaled_cop() in src/heiq/wp1/studies/direct_eo_erv.py.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HYDRAULIC SCREEN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area is translated into channel length and fan power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 volume flow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V̇ = ṁda · v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258568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23744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channel width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Wtot = V̇/(u g)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160520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25696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664208"/>
            <a:ext cx="64008" cy="1975104"/>
          </a:xfrm>
          <a:prstGeom prst="rect">
            <a:avLst/>
          </a:prstGeom>
          <a:solidFill>
            <a:srgbClr val="347BC8"/>
          </a:solidFill>
          <a:ln w="12700">
            <a:solidFill>
              <a:srgbClr val="347B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Channel length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ℓ = A/(Nsides Wtot)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062472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27648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664208"/>
            <a:ext cx="64008" cy="1975104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28816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Reynolds number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28816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 = ρuDh/μ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964424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664208"/>
            <a:ext cx="64008" cy="1975104"/>
          </a:xfrm>
          <a:prstGeom prst="rect">
            <a:avLst/>
          </a:prstGeom>
          <a:solidFill>
            <a:srgbClr val="F39A55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30768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Pressure drop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laminar or Blasius screen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866376" y="2651760"/>
            <a:ext cx="219456" cy="0"/>
          </a:xfrm>
          <a:prstGeom prst="line">
            <a:avLst/>
          </a:prstGeom>
          <a:noFill/>
          <a:ln w="20320">
            <a:solidFill>
              <a:srgbClr val="91A2A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31552" y="1664208"/>
            <a:ext cx="1609344" cy="19751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31552" y="1664208"/>
            <a:ext cx="64008" cy="1975104"/>
          </a:xfrm>
          <a:prstGeom prst="rect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32720" y="1783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Fan power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2103120"/>
            <a:ext cx="1261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Pfan = V̇Δp/ηfan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58368" y="402336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4069080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Δp = 12 μ ℓ u / g²    (Re ≤ 2300)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58368" y="4791456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837176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Δp = f (ℓ/Dh) ρu²/2,   f = 0.3164 Re⁻⁰·²⁵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53328" y="402336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4306824"/>
            <a:ext cx="1947672" cy="292608"/>
          </a:xfrm>
          <a:prstGeom prst="roundRect">
            <a:avLst>
              <a:gd name="adj" fmla="val 25000"/>
            </a:avLst>
          </a:prstGeom>
          <a:solidFill>
            <a:srgbClr val="1D4967"/>
          </a:solidFill>
          <a:ln w="12700">
            <a:solidFill>
              <a:srgbClr val="1D496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37376" y="43159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CONSERVATIVE SELECTION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437376" y="4782312"/>
            <a:ext cx="46817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active-core fan power = max(native ideal-channel estimate, declared ERV pressure-drop floor).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797296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a packaging screen; manifolds, maldistribution and fouling remain outside the model.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Implementation: src/heiq/wp1/engineering/channels.py and direct_eo_core_hydraulics().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ENERGY ACCOUNTING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identities are checked locally before system totals are formed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3619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Vterminal j = Vmembrane j + j²ASRseries + Vfixed 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31343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5915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PEO,cell = ∫A Vterminal j 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13639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18211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PEO,grid = PEO,cell / ηelectronics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959352"/>
            <a:ext cx="6583680" cy="676656"/>
          </a:xfrm>
          <a:prstGeom prst="roundRect">
            <a:avLst>
              <a:gd name="adj" fmla="val 10811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005072"/>
            <a:ext cx="6291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Pknown = PAC + PEO,grid + Pfans + Pcommon + included losses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62088" y="1490472"/>
            <a:ext cx="3977640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82128" y="1773936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178308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LEDGER DISCIPLINE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91272" y="227685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91272" y="22677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249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component power identity checked per area step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91272" y="26883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91272" y="26791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02168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missing terms remain unavailable—not zero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91272" y="309981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91272" y="309067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02168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site / grid conversion efficiency declared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1272" y="351129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91272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loads applied consistently to comparators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39227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91272" y="39136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02168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claim disabled if required component unresolved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62088" y="4910328"/>
            <a:ext cx="3977640" cy="704088"/>
          </a:xfrm>
          <a:prstGeom prst="roundRect">
            <a:avLst>
              <a:gd name="adj" fmla="val 10390"/>
            </a:avLst>
          </a:prstGeom>
          <a:solidFill>
            <a:srgbClr val="FCE9E8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5065776"/>
            <a:ext cx="3465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regeneration and heat rejection are not closed in the selected gas-receiver architecture.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797296"/>
            <a:ext cx="6583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savings are conditional until the full ledger is closed.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Boundary discipline is also documented in docs/SYSTEM_ENERGY_CLOSURE_STUDY.md.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PARAMETER EXPLORATION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framework supports forward prediction and inverse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157216" cy="1389888"/>
          </a:xfrm>
          <a:prstGeom prst="roundRect">
            <a:avLst>
              <a:gd name="adj" fmla="val 5263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73936"/>
            <a:ext cx="1362456" cy="292608"/>
          </a:xfrm>
          <a:prstGeom prst="roundRect">
            <a:avLst>
              <a:gd name="adj" fmla="val 25000"/>
            </a:avLst>
          </a:prstGeom>
          <a:solidFill>
            <a:srgbClr val="D2E5F7"/>
          </a:solidFill>
          <a:ln w="12700">
            <a:solidFill>
              <a:srgbClr val="D2E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783080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347B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MODEL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measured material vector + operating point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36976" y="2395728"/>
            <a:ext cx="521208" cy="0"/>
          </a:xfrm>
          <a:prstGeom prst="line">
            <a:avLst/>
          </a:prstGeom>
          <a:noFill/>
          <a:ln w="27940">
            <a:solidFill>
              <a:srgbClr val="347BC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877056" y="224028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flux, area and power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08192" y="1508760"/>
            <a:ext cx="5431536" cy="1389888"/>
          </a:xfrm>
          <a:prstGeom prst="roundRect">
            <a:avLst>
              <a:gd name="adj" fmla="val 5263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91656" y="1773936"/>
            <a:ext cx="1408176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INVERSE DESIGN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2402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humidity, voltage and area contract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95944" y="2395728"/>
            <a:ext cx="521208" cy="0"/>
          </a:xfrm>
          <a:prstGeom prst="line">
            <a:avLst/>
          </a:prstGeom>
          <a:noFill/>
          <a:ln w="27940">
            <a:solidFill>
              <a:srgbClr val="00B9A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336024" y="2240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required property region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264408"/>
            <a:ext cx="10881360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547872"/>
            <a:ext cx="2048256" cy="292608"/>
          </a:xfrm>
          <a:prstGeom prst="roundRect">
            <a:avLst>
              <a:gd name="adj" fmla="val 25000"/>
            </a:avLst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55701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SCREENING DOMAINS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45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0.3–120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Dref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74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10⁻¹²–10⁻⁹ m²/s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57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0416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σref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4041648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0.1–50 S/m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186416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545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10–100 μm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328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/ set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74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0.003–2.5 V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757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44714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Sref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4471416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10⁴–10⁵ mol m⁻³ aw⁻¹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86416" y="4471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7BC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545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0–4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328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389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FC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pσ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974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0–8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757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818120" y="49011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A5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03336" y="4901184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−1–2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186416" y="4901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uniform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5751576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Sampling is not a probability model unless distributions are physically justified.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Ranges shown from heiq_pre_receiver_material_analyses/config/default.json; downstream studies may override them.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NUMERICAL VERIFICATION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Conservation, equivalence and convergence checks are explicit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3657600" cy="4233672"/>
          </a:xfrm>
          <a:prstGeom prst="roundRect">
            <a:avLst>
              <a:gd name="adj" fmla="val 2000"/>
            </a:avLst>
          </a:prstGeom>
          <a:solidFill>
            <a:srgbClr val="143B59"/>
          </a:solidFill>
          <a:ln w="12700">
            <a:solidFill>
              <a:srgbClr val="143B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9264" y="18470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60320"/>
            <a:ext cx="3035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relevant tests passed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4436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FD1D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Executed 02 Sep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24128" y="3401568"/>
            <a:ext cx="2907792" cy="0"/>
          </a:xfrm>
          <a:prstGeom prst="line">
            <a:avLst/>
          </a:prstGeom>
          <a:noFill/>
          <a:ln w="12700">
            <a:solidFill>
              <a:srgbClr val="3359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36393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6301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71016" y="361188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membrane thermodynamics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39227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39136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271016" y="3895344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axial equivalence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69264" y="420624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419709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271016" y="417880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API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69264" y="448970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" y="44805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271016" y="446227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closure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69264" y="47731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" y="47640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71016" y="4745736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active ERV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69264" y="505663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504748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271016" y="502920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E1EB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O30 required-area workflow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636008" y="1490472"/>
            <a:ext cx="3246120" cy="42336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77393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92624" y="178308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RESIDUAL AUDITS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56048" y="232257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231343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266944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flux residual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56048" y="271576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56048" y="270662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266944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terminal-voltage error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956048" y="310896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6048" y="309981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266944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 water balance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56048" y="350215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56048" y="349300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266944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water balance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956048" y="389534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956048" y="38862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266944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counter-current boundary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56048" y="428853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56048" y="427939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266944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 continuity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956048" y="468172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56048" y="467258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266944" y="4654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electrical component identity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202168" y="1490472"/>
            <a:ext cx="3337560" cy="4233672"/>
          </a:xfrm>
          <a:prstGeom prst="roundRect">
            <a:avLst>
              <a:gd name="adj" fmla="val 2192"/>
            </a:avLst>
          </a:prstGeom>
          <a:solidFill>
            <a:srgbClr val="FFF0E2"/>
          </a:solidFill>
          <a:ln w="12700">
            <a:solidFill>
              <a:srgbClr val="F39A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0" y="1773936"/>
            <a:ext cx="1636776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58784" y="178308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STEP-HALVING AUDIT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522208" y="2395728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 m² step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701784" y="23957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10,499.7174 m²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522208" y="277063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m² step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701784" y="27706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10,499.6770 m²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03920" y="3200400"/>
            <a:ext cx="2651760" cy="0"/>
          </a:xfrm>
          <a:prstGeom prst="line">
            <a:avLst/>
          </a:prstGeom>
          <a:noFill/>
          <a:ln w="12700">
            <a:solidFill>
              <a:srgbClr val="E9B9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22208" y="34564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difference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9875520" y="34198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0.000385%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8531352" y="401421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case-94 basis at receiver multiplier 3.0.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513064" y="4736592"/>
            <a:ext cx="2633472" cy="576072"/>
          </a:xfrm>
          <a:prstGeom prst="roundRect">
            <a:avLst>
              <a:gd name="adj" fmla="val 12698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59368" y="48371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Verification ≠ experimental validation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command covered six relevant test modules; convergence example from docs/O30_REQUIRED_AREA_1V_v1.md.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BASIS CONTROL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Published O30 numbers must be tied to their exact model contract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0881360" cy="4325112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90472"/>
            <a:ext cx="2286000" cy="594360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36776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Study basis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1490472"/>
            <a:ext cx="2304288" cy="594360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636776"/>
            <a:ext cx="212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method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48656" y="1490472"/>
            <a:ext cx="2057400" cy="594360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0096" y="163677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Fixed basis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06056" y="1490472"/>
            <a:ext cx="1993392" cy="594360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97496" y="1636776"/>
            <a:ext cx="18105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Illustrative O30 area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99448" y="1490472"/>
            <a:ext cx="2240280" cy="594360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90888" y="1636776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2084832"/>
            <a:ext cx="22860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194560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final-system interpretation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944368" y="2084832"/>
            <a:ext cx="2304288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2194560"/>
            <a:ext cx="2066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8-segment endpoint sizing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248656" y="2084832"/>
            <a:ext cx="20574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67528" y="2194560"/>
            <a:ext cx="1819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selected material frontier; architecture-specific endpoint assumptions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306056" y="2084832"/>
            <a:ext cx="199339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24928" y="2194560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5,899 m² at 1 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99448" y="2084832"/>
            <a:ext cx="224028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2194560"/>
            <a:ext cx="2002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for the earlier 418.4 kW system interpretation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58368" y="3227832"/>
            <a:ext cx="2286000" cy="1143000"/>
          </a:xfrm>
          <a:prstGeom prst="rect">
            <a:avLst/>
          </a:prstGeom>
          <a:solidFill>
            <a:srgbClr val="F7F9FA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337560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Nonlinear required-area study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944368" y="3227832"/>
            <a:ext cx="2304288" cy="1143000"/>
          </a:xfrm>
          <a:prstGeom prst="rect">
            <a:avLst/>
          </a:prstGeom>
          <a:solidFill>
            <a:srgbClr val="F7F9FA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3337560"/>
            <a:ext cx="2066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coupled V12.1 target-reaching integration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248656" y="3227832"/>
            <a:ext cx="2057400" cy="1143000"/>
          </a:xfrm>
          <a:prstGeom prst="rect">
            <a:avLst/>
          </a:prstGeom>
          <a:solidFill>
            <a:srgbClr val="F7F9FA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67528" y="3337560"/>
            <a:ext cx="1819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legacy case-94 material + fixed channel geometry + receiver multiplier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06056" y="3227832"/>
            <a:ext cx="1993392" cy="1143000"/>
          </a:xfrm>
          <a:prstGeom prst="rect">
            <a:avLst/>
          </a:prstGeom>
          <a:solidFill>
            <a:srgbClr val="F7F9FA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24928" y="3337560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10,499.7–12,139.9 m² at 1 V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99448" y="3227832"/>
            <a:ext cx="2240280" cy="1143000"/>
          </a:xfrm>
          <a:prstGeom prst="rect">
            <a:avLst/>
          </a:prstGeom>
          <a:solidFill>
            <a:srgbClr val="F7F9FA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0" y="3337560"/>
            <a:ext cx="2002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airflow changes area and core power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58368" y="4370832"/>
            <a:ext cx="22860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4480560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Canonical local hierarchy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2944368" y="4370832"/>
            <a:ext cx="2304288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63240" y="4480560"/>
            <a:ext cx="2066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V2 local → V3 axial → V12.1 receiver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5248656" y="4370832"/>
            <a:ext cx="20574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67528" y="4480560"/>
            <a:ext cx="18196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declared per workflow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306056" y="4370832"/>
            <a:ext cx="199339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24928" y="4480560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one universal value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299448" y="4370832"/>
            <a:ext cx="224028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1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18320" y="4480560"/>
            <a:ext cx="2002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26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chain; outputs depend on explicit contract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1033272" y="5641848"/>
            <a:ext cx="10131552" cy="429768"/>
          </a:xfrm>
          <a:prstGeom prst="roundRect">
            <a:avLst>
              <a:gd name="adj" fmla="val 17021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34440" y="5733288"/>
            <a:ext cx="9729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Different areas are not a contradiction when material, geometry, receiver boundary and integration method differ—but they must never be merged.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Sources: selected v9 interpretation and docs/O30_REQUIRED_AREA_1V_v1.md.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ASSUMPTION LEDGER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is strongest where conservation is explicit—and weakest where closure is prescribed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E2F5F2"/>
          </a:solidFill>
          <a:ln w="12700">
            <a:solidFill>
              <a:srgbClr val="E2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C7EDE7"/>
          </a:solidFill>
          <a:ln w="12700">
            <a:solidFill>
              <a:srgbClr val="C7ED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WELL CONSTRAINED NUMERICALLY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87552" y="2468880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sign convention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2990088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water balances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87552" y="3511296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7552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reconstruction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7552" y="4032504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surface admissibility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7552" y="4553712"/>
            <a:ext cx="219456" cy="219456"/>
          </a:xfrm>
          <a:prstGeom prst="ellipse">
            <a:avLst/>
          </a:prstGeom>
          <a:solidFill>
            <a:srgbClr val="00B9A8"/>
          </a:solidFill>
          <a:ln w="12700">
            <a:solidFill>
              <a:srgbClr val="00B9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target-event resolution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Verification evidence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0288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F9DEC4"/>
          </a:solidFill>
          <a:ln w="12700">
            <a:solidFill>
              <a:srgbClr val="F9DE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45152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PRESCRIBED MODEL CLOSURES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72584" y="246888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72584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01768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sensible / latent effectiveness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72584" y="2990088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72584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001768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power-law property shapes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72584" y="3511296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72584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01768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film correlation and scale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72584" y="4032504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72584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 bulk interpolation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72584" y="4553712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72584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01768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scaled-Carnot COP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617720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Sensitivity required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28432" y="1508760"/>
            <a:ext cx="3438144" cy="4288536"/>
          </a:xfrm>
          <a:prstGeom prst="roundRect">
            <a:avLst>
              <a:gd name="adj" fmla="val 2128"/>
            </a:avLst>
          </a:prstGeom>
          <a:solidFill>
            <a:srgbClr val="FCE9E8"/>
          </a:solidFill>
          <a:ln w="12700">
            <a:solidFill>
              <a:srgbClr val="FCE9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75320" y="1792224"/>
            <a:ext cx="2944368" cy="292608"/>
          </a:xfrm>
          <a:prstGeom prst="roundRect">
            <a:avLst>
              <a:gd name="adj" fmla="val 25000"/>
            </a:avLst>
          </a:prstGeom>
          <a:solidFill>
            <a:srgbClr val="F6D4D2"/>
          </a:solidFill>
          <a:ln w="12700">
            <a:solidFill>
              <a:srgbClr val="F6D4D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30184" y="1801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65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 EXPERIMENTALLY CLOSED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57616" y="2468880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57616" y="2459736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686800" y="24231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vapor nd for target material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57616" y="2990088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57616" y="298094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686800" y="29443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RH-resolved ASR under load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357616" y="3511296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57616" y="350215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686800" y="346557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electrode heat and losses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357616" y="4032504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57616" y="40233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686800" y="39867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water handling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357616" y="4553712"/>
            <a:ext cx="219456" cy="219456"/>
          </a:xfrm>
          <a:prstGeom prst="ellipse">
            <a:avLst/>
          </a:prstGeom>
          <a:solidFill>
            <a:srgbClr val="E45756"/>
          </a:solidFill>
          <a:ln w="12700">
            <a:solidFill>
              <a:srgbClr val="E4575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57616" y="454456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!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686800" y="45079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manifolds / fouling / lifetime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302752" y="52943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Experimental evidence required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12648" y="6263640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91A2A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inverse-design property vector is a target region, not a validated material identification.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383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EXPERIMENTAL VALIDATION 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high-impact model term should have a direct measurement pathway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5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2011680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quantity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70048" y="1444752"/>
            <a:ext cx="2761488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31536" y="1444752"/>
            <a:ext cx="2761488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22976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Measured observable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93024" y="1444752"/>
            <a:ext cx="3346704" cy="512064"/>
          </a:xfrm>
          <a:prstGeom prst="rect">
            <a:avLst/>
          </a:prstGeom>
          <a:solidFill>
            <a:srgbClr val="143B5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57276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Acceptance focus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956816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02996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EO transport Nw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670048" y="1956816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0632" y="2029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matched polarity reversal + EO-off control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31536" y="1956816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32120" y="20299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mass gain/loss on both gas streams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93024" y="1956816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202996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direction, repeatability, uncertainty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58368" y="2523744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259689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drag nd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670048" y="2523744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70632" y="25968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 NEO and current at the same state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31536" y="2523744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32120" y="25968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nd = NEO F/j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193024" y="2523744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3608" y="259689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vapor-specific—not liquid-cell inferred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58368" y="309067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31638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D(aw)S(aw)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670048" y="3090672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70632" y="3163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passive activity-gradient series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431536" y="3090672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32120" y="3163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steady diffusion flux vs. Δaw and L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93024" y="3090672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93608" y="316382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films from membrane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58368" y="3657600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373075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σ(aw) / ASR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2670048" y="3657600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70632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impedance or DC under representative RH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431536" y="3657600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32120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area resistance and temperature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8193024" y="3657600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93608" y="373075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same hydration as flux test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658368" y="422452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4297680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Gas films Ks, Kr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2670048" y="4224528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70632" y="4297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vary velocity and channel gap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5431536" y="4224528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532120" y="42976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flux response + blank-cell pressure drop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8193024" y="4224528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93608" y="42976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Sh correlation and bypass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58368" y="4791456"/>
            <a:ext cx="2011680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8952" y="486460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Voltage / heat ledger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2670048" y="4791456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770632" y="48646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simultaneous V, I and calorimetry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5431536" y="4791456"/>
            <a:ext cx="2761488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32120" y="48646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 components, electrical heat partition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8193024" y="4791456"/>
            <a:ext cx="3346704" cy="566928"/>
          </a:xfrm>
          <a:prstGeom prst="rect">
            <a:avLst/>
          </a:prstGeom>
          <a:solidFill>
            <a:srgbClr val="F7F9FA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93608" y="4864608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stable operation near 1 V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658368" y="535838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8952" y="5431536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Receiver closure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2670048" y="5358384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770632" y="54315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meter inlet/outlet humidity and any condensate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5431536" y="5358384"/>
            <a:ext cx="276148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32120" y="54315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 donor/receiver water balance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8193024" y="5358384"/>
            <a:ext cx="33467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5E1E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93608" y="543153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E70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saturation and removal mechanism</a:t>
            </a:r>
            <a:endParaRPr lang="en-US" sz="93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6099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coupon test should target the incremental EO duty—not the total active-core water transfer that already includes passive recovery.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01384"/>
            <a:ext cx="23774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1A2AF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FCB"/>
          </a:solidFill>
          <a:ln w="12700">
            <a:solidFill>
              <a:srgbClr val="00AFC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4754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PEER-REVIEW CONCLUSION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42416"/>
            <a:ext cx="7424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is auditable because its balances and failure modes are explicit.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5836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0B9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STRENGTH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Conservation, voltage closure, surface bounds and numerical statuses are enforced rather than assumed.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39A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APPROXIMATION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selected active-ERV path interpolates balanced bulk endpoints; it is not a conjugate axial PDE.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5008" y="2523744"/>
            <a:ext cx="3401568" cy="1938528"/>
          </a:xfrm>
          <a:prstGeom prst="roundRect">
            <a:avLst>
              <a:gd name="adj" fmla="val 3774"/>
            </a:avLst>
          </a:prstGeom>
          <a:solidFill>
            <a:srgbClr val="143B59"/>
          </a:solidFill>
          <a:ln w="12700">
            <a:solidFill>
              <a:srgbClr val="2A4C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277063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E4575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VALIDATION GAP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3246120"/>
            <a:ext cx="27797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inverse-designed material vector and receiver / thermal hardware remain experimentally open.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919472"/>
            <a:ext cx="10808208" cy="713232"/>
          </a:xfrm>
          <a:prstGeom prst="roundRect">
            <a:avLst>
              <a:gd name="adj" fmla="val 10256"/>
            </a:avLst>
          </a:prstGeom>
          <a:solidFill>
            <a:srgbClr val="103552"/>
          </a:solidFill>
          <a:ln w="12700">
            <a:solidFill>
              <a:srgbClr val="244B6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5120640"/>
            <a:ext cx="2020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AFC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review focus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503834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Are the chosen constitutive ranges defensible? Is endpoint interpolation adequate? What data will close the receiver and heat ledger?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318504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90A8B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HeiQ / XMembrane  •  Technical formulation and numerical implementation  •  02 September 2026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HeiQ / XMembrane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XMembrane Active-ERV Model — Technical Formulation and Numerical Implementation</dc:title>
  <dc:subject>Technical formulation and numerical implementation of the coupled XMembrane ERV model</dc:subject>
  <dc:creator>OpenAI Codex for HeiQ / XMembrane</dc:creator>
  <cp:lastModifiedBy>OpenAI Codex for HeiQ / XMembrane</cp:lastModifiedBy>
  <cp:revision>1</cp:revision>
  <dcterms:created xsi:type="dcterms:W3CDTF">2026-09-02T09:01:56Z</dcterms:created>
  <dcterms:modified xsi:type="dcterms:W3CDTF">2026-09-02T09:01:56Z</dcterms:modified>
</cp:coreProperties>
</file>
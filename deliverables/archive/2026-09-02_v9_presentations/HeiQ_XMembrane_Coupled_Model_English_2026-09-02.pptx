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105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HEIQ  /  XMEMBRANE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823960" y="6510528"/>
            <a:ext cx="2770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B9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COUPLED MODEL • SEPTEMBER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B98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B98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4937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6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HEIQ  /  XMEMBRANE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23444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Electro-Osmotic Water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Transport Integrated into an ERV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76656" y="296265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FD2D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Coupled model • O30 operating point • Validation path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6656" y="3694176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23653"/>
          </a:solidFill>
          <a:ln w="12700">
            <a:solidFill>
              <a:srgbClr val="12365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3703320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SYNTHESIS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22576" y="3694176"/>
            <a:ext cx="1417320" cy="310896"/>
          </a:xfrm>
          <a:prstGeom prst="roundRect">
            <a:avLst>
              <a:gd name="adj" fmla="val 35294"/>
            </a:avLst>
          </a:prstGeom>
          <a:solidFill>
            <a:srgbClr val="123653"/>
          </a:solidFill>
          <a:ln w="12700">
            <a:solidFill>
              <a:srgbClr val="12365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95728" y="370332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ENGLISH DECK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77056" y="3694176"/>
            <a:ext cx="1719072" cy="310896"/>
          </a:xfrm>
          <a:prstGeom prst="roundRect">
            <a:avLst>
              <a:gd name="adj" fmla="val 35294"/>
            </a:avLst>
          </a:prstGeom>
          <a:solidFill>
            <a:srgbClr val="123653"/>
          </a:solidFill>
          <a:ln w="12700">
            <a:solidFill>
              <a:srgbClr val="12365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50208" y="37033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SEPTEMBER 2026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" y="4343400"/>
            <a:ext cx="6126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9E5E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physically based screening model that links moist-air thermodynamics, passive recovery, local membrane transport and cooling-coil power.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543800" y="713232"/>
            <a:ext cx="3977640" cy="5440680"/>
          </a:xfrm>
          <a:prstGeom prst="roundRect">
            <a:avLst>
              <a:gd name="adj" fmla="val 2759"/>
            </a:avLst>
          </a:prstGeom>
          <a:solidFill>
            <a:srgbClr val="123653"/>
          </a:solidFill>
          <a:ln w="12700">
            <a:solidFill>
              <a:srgbClr val="12365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91272" y="1051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14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ACTIVE ERV CORE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28432" y="1618488"/>
            <a:ext cx="2971800" cy="0"/>
          </a:xfrm>
          <a:prstGeom prst="line">
            <a:avLst/>
          </a:prstGeom>
          <a:noFill/>
          <a:ln w="63500">
            <a:solidFill>
              <a:srgbClr val="3178C6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4464" y="1618488"/>
            <a:ext cx="2450592" cy="0"/>
          </a:xfrm>
          <a:prstGeom prst="line">
            <a:avLst/>
          </a:prstGeom>
          <a:noFill/>
          <a:ln w="19050">
            <a:solidFill>
              <a:srgbClr val="3178C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28432" y="2148840"/>
            <a:ext cx="2971800" cy="0"/>
          </a:xfrm>
          <a:prstGeom prst="line">
            <a:avLst/>
          </a:prstGeom>
          <a:noFill/>
          <a:ln w="63500">
            <a:solidFill>
              <a:srgbClr val="00BDAA">
                <a:alpha val="9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35056" y="2148840"/>
            <a:ext cx="-2450592" cy="0"/>
          </a:xfrm>
          <a:prstGeom prst="line">
            <a:avLst/>
          </a:prstGeom>
          <a:noFill/>
          <a:ln w="19050">
            <a:solidFill>
              <a:srgbClr val="00BDA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28432" y="2679192"/>
            <a:ext cx="2971800" cy="0"/>
          </a:xfrm>
          <a:prstGeom prst="line">
            <a:avLst/>
          </a:prstGeom>
          <a:noFill/>
          <a:ln w="63500">
            <a:solidFill>
              <a:srgbClr val="3178C6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84464" y="2679192"/>
            <a:ext cx="2450592" cy="0"/>
          </a:xfrm>
          <a:prstGeom prst="line">
            <a:avLst/>
          </a:prstGeom>
          <a:noFill/>
          <a:ln w="19050">
            <a:solidFill>
              <a:srgbClr val="3178C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28432" y="3209544"/>
            <a:ext cx="2971800" cy="0"/>
          </a:xfrm>
          <a:prstGeom prst="line">
            <a:avLst/>
          </a:prstGeom>
          <a:noFill/>
          <a:ln w="63500">
            <a:solidFill>
              <a:srgbClr val="00BDAA">
                <a:alpha val="9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35056" y="3209544"/>
            <a:ext cx="-2450592" cy="0"/>
          </a:xfrm>
          <a:prstGeom prst="line">
            <a:avLst/>
          </a:prstGeom>
          <a:noFill/>
          <a:ln w="19050">
            <a:solidFill>
              <a:srgbClr val="00BDAA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028432" y="3739896"/>
            <a:ext cx="2971800" cy="0"/>
          </a:xfrm>
          <a:prstGeom prst="line">
            <a:avLst/>
          </a:prstGeom>
          <a:noFill/>
          <a:ln w="63500">
            <a:solidFill>
              <a:srgbClr val="3178C6">
                <a:alpha val="9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84464" y="3739896"/>
            <a:ext cx="2450592" cy="0"/>
          </a:xfrm>
          <a:prstGeom prst="line">
            <a:avLst/>
          </a:prstGeom>
          <a:noFill/>
          <a:ln w="19050">
            <a:solidFill>
              <a:srgbClr val="3178C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28432" y="4270248"/>
            <a:ext cx="2971800" cy="0"/>
          </a:xfrm>
          <a:prstGeom prst="line">
            <a:avLst/>
          </a:prstGeom>
          <a:noFill/>
          <a:ln w="63500">
            <a:solidFill>
              <a:srgbClr val="00BDAA">
                <a:alpha val="9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35056" y="4270248"/>
            <a:ext cx="-2450592" cy="0"/>
          </a:xfrm>
          <a:prstGeom prst="line">
            <a:avLst/>
          </a:prstGeom>
          <a:noFill/>
          <a:ln w="19050">
            <a:solidFill>
              <a:srgbClr val="00BDAA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028432" y="4800600"/>
            <a:ext cx="2971800" cy="0"/>
          </a:xfrm>
          <a:prstGeom prst="line">
            <a:avLst/>
          </a:prstGeom>
          <a:noFill/>
          <a:ln w="63500">
            <a:solidFill>
              <a:srgbClr val="3178C6">
                <a:alpha val="9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84464" y="4800600"/>
            <a:ext cx="2450592" cy="0"/>
          </a:xfrm>
          <a:prstGeom prst="line">
            <a:avLst/>
          </a:prstGeom>
          <a:noFill/>
          <a:ln w="19050">
            <a:solidFill>
              <a:srgbClr val="3178C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247888" y="3246120"/>
            <a:ext cx="82296" cy="82296"/>
          </a:xfrm>
          <a:prstGeom prst="ellipse">
            <a:avLst/>
          </a:prstGeom>
          <a:solidFill>
            <a:srgbClr val="00AFCB">
              <a:alpha val="90000"/>
            </a:srgbClr>
          </a:solidFill>
          <a:ln w="12700">
            <a:solidFill>
              <a:srgbClr val="00AFCB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84464" y="3136392"/>
            <a:ext cx="0" cy="-758952"/>
          </a:xfrm>
          <a:prstGeom prst="line">
            <a:avLst/>
          </a:prstGeom>
          <a:noFill/>
          <a:ln w="1397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577072" y="3374136"/>
            <a:ext cx="82296" cy="82296"/>
          </a:xfrm>
          <a:prstGeom prst="ellipse">
            <a:avLst/>
          </a:prstGeom>
          <a:solidFill>
            <a:srgbClr val="00AFCB">
              <a:alpha val="90000"/>
            </a:srgbClr>
          </a:solidFill>
          <a:ln w="12700">
            <a:solidFill>
              <a:srgbClr val="00AFCB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13648" y="3136392"/>
            <a:ext cx="0" cy="-758952"/>
          </a:xfrm>
          <a:prstGeom prst="line">
            <a:avLst/>
          </a:prstGeom>
          <a:noFill/>
          <a:ln w="1397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906256" y="3502152"/>
            <a:ext cx="82296" cy="82296"/>
          </a:xfrm>
          <a:prstGeom prst="ellipse">
            <a:avLst/>
          </a:prstGeom>
          <a:solidFill>
            <a:srgbClr val="00AFCB">
              <a:alpha val="90000"/>
            </a:srgbClr>
          </a:solidFill>
          <a:ln w="12700">
            <a:solidFill>
              <a:srgbClr val="00AFCB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42832" y="3136392"/>
            <a:ext cx="0" cy="-758952"/>
          </a:xfrm>
          <a:prstGeom prst="line">
            <a:avLst/>
          </a:prstGeom>
          <a:noFill/>
          <a:ln w="1397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235440" y="3246120"/>
            <a:ext cx="82296" cy="82296"/>
          </a:xfrm>
          <a:prstGeom prst="ellipse">
            <a:avLst/>
          </a:prstGeom>
          <a:solidFill>
            <a:srgbClr val="00AFCB">
              <a:alpha val="90000"/>
            </a:srgbClr>
          </a:solidFill>
          <a:ln w="12700">
            <a:solidFill>
              <a:srgbClr val="00AFCB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72016" y="3136392"/>
            <a:ext cx="0" cy="-758952"/>
          </a:xfrm>
          <a:prstGeom prst="line">
            <a:avLst/>
          </a:prstGeom>
          <a:noFill/>
          <a:ln w="1397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564624" y="3374136"/>
            <a:ext cx="82296" cy="82296"/>
          </a:xfrm>
          <a:prstGeom prst="ellipse">
            <a:avLst/>
          </a:prstGeom>
          <a:solidFill>
            <a:srgbClr val="00AFCB">
              <a:alpha val="90000"/>
            </a:srgbClr>
          </a:solidFill>
          <a:ln w="12700">
            <a:solidFill>
              <a:srgbClr val="00AFCB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01200" y="3136392"/>
            <a:ext cx="0" cy="-758952"/>
          </a:xfrm>
          <a:prstGeom prst="line">
            <a:avLst/>
          </a:prstGeom>
          <a:noFill/>
          <a:ln w="1397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893808" y="3502152"/>
            <a:ext cx="82296" cy="82296"/>
          </a:xfrm>
          <a:prstGeom prst="ellipse">
            <a:avLst/>
          </a:prstGeom>
          <a:solidFill>
            <a:srgbClr val="00AFCB">
              <a:alpha val="90000"/>
            </a:srgbClr>
          </a:solidFill>
          <a:ln w="12700">
            <a:solidFill>
              <a:srgbClr val="00AFCB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930384" y="3136392"/>
            <a:ext cx="0" cy="-758952"/>
          </a:xfrm>
          <a:prstGeom prst="line">
            <a:avLst/>
          </a:prstGeom>
          <a:noFill/>
          <a:ln w="1397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222992" y="3246120"/>
            <a:ext cx="82296" cy="82296"/>
          </a:xfrm>
          <a:prstGeom prst="ellipse">
            <a:avLst/>
          </a:prstGeom>
          <a:solidFill>
            <a:srgbClr val="00AFCB">
              <a:alpha val="90000"/>
            </a:srgbClr>
          </a:solidFill>
          <a:ln w="12700">
            <a:solidFill>
              <a:srgbClr val="00AFCB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259568" y="3136392"/>
            <a:ext cx="0" cy="-758952"/>
          </a:xfrm>
          <a:prstGeom prst="line">
            <a:avLst/>
          </a:prstGeom>
          <a:noFill/>
          <a:ln w="1397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0552176" y="3374136"/>
            <a:ext cx="82296" cy="82296"/>
          </a:xfrm>
          <a:prstGeom prst="ellipse">
            <a:avLst/>
          </a:prstGeom>
          <a:solidFill>
            <a:srgbClr val="00AFCB">
              <a:alpha val="90000"/>
            </a:srgbClr>
          </a:solidFill>
          <a:ln w="12700">
            <a:solidFill>
              <a:srgbClr val="00AFCB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588752" y="3136392"/>
            <a:ext cx="0" cy="-758952"/>
          </a:xfrm>
          <a:prstGeom prst="line">
            <a:avLst/>
          </a:prstGeom>
          <a:noFill/>
          <a:ln w="1397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0881360" y="3502152"/>
            <a:ext cx="82296" cy="82296"/>
          </a:xfrm>
          <a:prstGeom prst="ellipse">
            <a:avLst/>
          </a:prstGeom>
          <a:solidFill>
            <a:srgbClr val="00AFCB">
              <a:alpha val="90000"/>
            </a:srgbClr>
          </a:solidFill>
          <a:ln w="12700">
            <a:solidFill>
              <a:srgbClr val="00AFCB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917936" y="3136392"/>
            <a:ext cx="0" cy="-758952"/>
          </a:xfrm>
          <a:prstGeom prst="line">
            <a:avLst/>
          </a:prstGeom>
          <a:noFill/>
          <a:ln w="1397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8686800" y="3886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2D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water transport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028432" y="4846320"/>
            <a:ext cx="3017520" cy="658368"/>
          </a:xfrm>
          <a:prstGeom prst="roundRect">
            <a:avLst>
              <a:gd name="adj" fmla="val 16667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193024" y="4901184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Net transport = EO − back-diffusion</a:t>
            </a:r>
            <a:endParaRPr lang="en-US" sz="1700" dirty="0"/>
          </a:p>
        </p:txBody>
      </p:sp>
      <p:sp>
        <p:nvSpPr>
          <p:cNvPr id="50" name="Text 48"/>
          <p:cNvSpPr txBox="1"/>
          <p:nvPr/>
        </p:nvSpPr>
        <p:spPr>
          <a:xfrm>
            <a:off x="676656" y="634593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FA8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Prepared from the controlled model description and selected final result set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EXECUTIVE TAKEAWAY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4008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model identifies a promising—but conditional—energy window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161288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Selected O30 operating point; active membrane integrated directly into the ERV core.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" y="1737360"/>
            <a:ext cx="261518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737360"/>
            <a:ext cx="73152" cy="1234440"/>
          </a:xfrm>
          <a:prstGeom prst="rect">
            <a:avLst/>
          </a:prstGeom>
          <a:solidFill>
            <a:srgbClr val="00BDAA"/>
          </a:solidFill>
          <a:ln w="12700">
            <a:solidFill>
              <a:srgbClr val="00BDA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0392" y="1856232"/>
            <a:ext cx="21579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418.4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228600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DA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kW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52374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Known modeled total power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2770632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7B6C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Active ERV + EO + AC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38144" y="1737360"/>
            <a:ext cx="261518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38144" y="1737360"/>
            <a:ext cx="73152" cy="1234440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66744" y="1856232"/>
            <a:ext cx="21579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125.34</a:t>
            </a:r>
            <a:endParaRPr lang="en-US" sz="2900" dirty="0"/>
          </a:p>
        </p:txBody>
      </p:sp>
      <p:sp>
        <p:nvSpPr>
          <p:cNvPr id="14" name="Text 12"/>
          <p:cNvSpPr txBox="1"/>
          <p:nvPr/>
        </p:nvSpPr>
        <p:spPr>
          <a:xfrm>
            <a:off x="3666744" y="228600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kW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666744" y="252374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Conditional power window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666744" y="2770632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7B6C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vs. passive ERV + AC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54496" y="1737360"/>
            <a:ext cx="261518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737360"/>
            <a:ext cx="73152" cy="1234440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83096" y="1856232"/>
            <a:ext cx="21579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5,899</a:t>
            </a:r>
            <a:endParaRPr lang="en-US" sz="2900" dirty="0"/>
          </a:p>
        </p:txBody>
      </p:sp>
      <p:sp>
        <p:nvSpPr>
          <p:cNvPr id="20" name="Text 18"/>
          <p:cNvSpPr txBox="1"/>
          <p:nvPr/>
        </p:nvSpPr>
        <p:spPr>
          <a:xfrm>
            <a:off x="6483096" y="228600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178C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m²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83096" y="252374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Selected active membrane area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83096" y="2770632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7B6C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at 1.0 V terminal voltage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070848" y="1737360"/>
            <a:ext cx="2505456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70848" y="1737360"/>
            <a:ext cx="73152" cy="1234440"/>
          </a:xfrm>
          <a:prstGeom prst="rect">
            <a:avLst/>
          </a:prstGeom>
          <a:solidFill>
            <a:srgbClr val="A8D241"/>
          </a:solidFill>
          <a:ln w="12700">
            <a:solidFill>
              <a:srgbClr val="A8D2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99448" y="1856232"/>
            <a:ext cx="20482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23.05</a:t>
            </a:r>
            <a:endParaRPr lang="en-US" sz="2900" dirty="0"/>
          </a:p>
        </p:txBody>
      </p:sp>
      <p:sp>
        <p:nvSpPr>
          <p:cNvPr id="26" name="Text 24"/>
          <p:cNvSpPr txBox="1"/>
          <p:nvPr/>
        </p:nvSpPr>
        <p:spPr>
          <a:xfrm>
            <a:off x="9299448" y="2286000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D24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%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299448" y="252374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Reduction in known modeled power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299448" y="2770632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7B6C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EO-on vs. EO-off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1792" y="3291840"/>
            <a:ext cx="690372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9536" y="3538728"/>
            <a:ext cx="1920240" cy="310896"/>
          </a:xfrm>
          <a:prstGeom prst="roundRect">
            <a:avLst>
              <a:gd name="adj" fmla="val 35294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32688" y="354787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00BDA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THE RESULT MEANS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96112" y="3977640"/>
            <a:ext cx="63093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passive ERV delivers the largest established reduction: 622.66 kW versus AC-only.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EO adds 1,228.3 kg/h of incremental water-transfer duty at O30.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Reduced latent load can lower both condensate duty and compressor lift.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7754112" y="3291840"/>
            <a:ext cx="3822192" cy="2240280"/>
          </a:xfrm>
          <a:prstGeom prst="roundRect">
            <a:avLst>
              <a:gd name="adj" fmla="val 4898"/>
            </a:avLst>
          </a:prstGeom>
          <a:solidFill>
            <a:srgbClr val="FFF2E6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01000" y="3538728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FBE3C8"/>
          </a:solidFill>
          <a:ln w="12700">
            <a:solidFill>
              <a:srgbClr val="FBE3C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74152" y="3547872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F4A26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CLAIM BOUNDARY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028432" y="40050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is not yet a validated net saving.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8028432" y="4453128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Receiver, thermal management, power electronics, manifolds and additional hardware must collectively remain below 125.34 kW.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0" y="5815584"/>
            <a:ext cx="12191695" cy="484632"/>
          </a:xfrm>
          <a:prstGeom prst="rect">
            <a:avLst/>
          </a:prstGeom>
          <a:solidFill>
            <a:srgbClr val="123653"/>
          </a:solidFill>
          <a:ln w="12700">
            <a:solidFill>
              <a:srgbClr val="12365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1792" y="5843016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Decision framing: validate the membrane vector and close the omitted subsystem losses before making a net-savings claim.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B98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SYSTEM COMPARISON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4008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Three systems isolate what passive recovery and EO each contribute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3236976" cy="2907792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08760"/>
            <a:ext cx="3236976" cy="1005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1810512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 •  AC only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350008"/>
            <a:ext cx="2779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1,166.400 kW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063240"/>
            <a:ext cx="2596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Outdoor air is treated directly by the cooling coil.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682496" y="39867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F4A26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BASELINE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15384" y="1508760"/>
            <a:ext cx="3236976" cy="2907792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15384" y="1508760"/>
            <a:ext cx="3236976" cy="100584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43984" y="1810512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  •  Passive ERV + AC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443984" y="2350008"/>
            <a:ext cx="2779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178C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543.741 kW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535424" y="3063240"/>
            <a:ext cx="2596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Sensible and latent recovery reduce the coil duty before cooling.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239512" y="39867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3178C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EO OFF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0" y="1508760"/>
            <a:ext cx="3236976" cy="2907792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1508760"/>
            <a:ext cx="3236976" cy="100584"/>
          </a:xfrm>
          <a:prstGeom prst="rect">
            <a:avLst/>
          </a:prstGeom>
          <a:solidFill>
            <a:srgbClr val="00BDAA"/>
          </a:solidFill>
          <a:ln w="12700">
            <a:solidFill>
              <a:srgbClr val="00BDA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01000" y="1810512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  •  Active ERV + EO + AC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001000" y="2350008"/>
            <a:ext cx="2779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DA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418.400 kW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3063240"/>
            <a:ext cx="2596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Voltage-driven water transport is added inside the same ERV membrane.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796528" y="39867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00BDA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EO 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959352" y="2953512"/>
            <a:ext cx="210312" cy="0"/>
          </a:xfrm>
          <a:prstGeom prst="line">
            <a:avLst/>
          </a:prstGeom>
          <a:noFill/>
          <a:ln w="3175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516368" y="2953512"/>
            <a:ext cx="210312" cy="0"/>
          </a:xfrm>
          <a:prstGeom prst="line">
            <a:avLst/>
          </a:prstGeom>
          <a:noFill/>
          <a:ln w="3175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05840" y="4800600"/>
            <a:ext cx="4892040" cy="914400"/>
          </a:xfrm>
          <a:prstGeom prst="roundRect">
            <a:avLst>
              <a:gd name="adj" fmla="val 12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25296" y="493776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178C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622.659 kW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2798064" y="4937760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Passive ERV reduction vs. AC only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54496" y="4800600"/>
            <a:ext cx="4892040" cy="914400"/>
          </a:xfrm>
          <a:prstGeom prst="roundRect">
            <a:avLst>
              <a:gd name="adj" fmla="val 12000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73952" y="4937760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BDA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125.340 kW</a:t>
            </a:r>
            <a:endParaRPr lang="en-US" sz="2100" dirty="0"/>
          </a:p>
        </p:txBody>
      </p:sp>
      <p:sp>
        <p:nvSpPr>
          <p:cNvPr id="29" name="Text 27"/>
          <p:cNvSpPr txBox="1"/>
          <p:nvPr/>
        </p:nvSpPr>
        <p:spPr>
          <a:xfrm>
            <a:off x="8156448" y="4937760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Incremental EO window vs. EO off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5980176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 not label the full AC-only → active-ERV difference as “EO savings.”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B98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SELECTED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4008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EO is embedded in the ERV membrane—not added as a separate downstream stage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161288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cooling coil remains in the system and completes cooling and dehumidification after O30.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7556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3178C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OUTDOOR / PROCESS AIR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078992" cy="0"/>
          </a:xfrm>
          <a:prstGeom prst="line">
            <a:avLst/>
          </a:prstGeom>
          <a:noFill/>
          <a:ln w="50800">
            <a:solidFill>
              <a:srgbClr val="3178C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938528" y="1755648"/>
            <a:ext cx="2907792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38528" y="1755648"/>
            <a:ext cx="73152" cy="1078992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57984" y="186537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Active ERV membrane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157984" y="213969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Passive sensible + latent recovery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EO transport under applied voltage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64608" y="2286000"/>
            <a:ext cx="694944" cy="0"/>
          </a:xfrm>
          <a:prstGeom prst="line">
            <a:avLst/>
          </a:prstGeom>
          <a:noFill/>
          <a:ln w="50800">
            <a:solidFill>
              <a:srgbClr val="3178C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596128" y="1755648"/>
            <a:ext cx="2487168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96128" y="1755648"/>
            <a:ext cx="73152" cy="1078992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15584" y="1865376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Cooling coil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815584" y="2139696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Remaining sensible + latent duty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ADP / bypass-factor solution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01584" y="2286000"/>
            <a:ext cx="1078992" cy="0"/>
          </a:xfrm>
          <a:prstGeom prst="line">
            <a:avLst/>
          </a:prstGeom>
          <a:noFill/>
          <a:ln w="50800">
            <a:solidFill>
              <a:srgbClr val="3178C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217152" y="1755648"/>
            <a:ext cx="2212848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17152" y="1755648"/>
            <a:ext cx="73152" cy="1078992"/>
          </a:xfrm>
          <a:prstGeom prst="rect">
            <a:avLst/>
          </a:prstGeom>
          <a:solidFill>
            <a:srgbClr val="00BDAA"/>
          </a:solidFill>
          <a:ln w="12700">
            <a:solidFill>
              <a:srgbClr val="00BDA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36608" y="1865376"/>
            <a:ext cx="1865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Supply air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436608" y="2139696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Final temperature and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humidity target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427939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00BDA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EXHAUST / RECEIVER AIR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753344" y="3840480"/>
            <a:ext cx="-8193024" cy="0"/>
          </a:xfrm>
          <a:prstGeom prst="line">
            <a:avLst/>
          </a:prstGeom>
          <a:noFill/>
          <a:ln w="50800">
            <a:solidFill>
              <a:srgbClr val="00BDAA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5486400" y="3995928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counter-current flow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01568" y="2907792"/>
            <a:ext cx="0" cy="768096"/>
          </a:xfrm>
          <a:prstGeom prst="line">
            <a:avLst/>
          </a:prstGeom>
          <a:noFill/>
          <a:ln w="4064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587752" y="3182112"/>
            <a:ext cx="1627632" cy="310896"/>
          </a:xfrm>
          <a:prstGeom prst="roundRect">
            <a:avLst>
              <a:gd name="adj" fmla="val 35294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60904" y="319125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00BDA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TRANSFERRED WATER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3232" y="4736592"/>
            <a:ext cx="10716768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50976" y="491032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Physical mechanisms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816352" y="4892040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FFF2E6"/>
          </a:solidFill>
          <a:ln w="12700">
            <a:solidFill>
              <a:srgbClr val="FFF2E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889504" y="4901184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F4A26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HEAT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3968496" y="4901184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warm → cool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40680" y="4892040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513832" y="4901184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3178C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DIFFUSION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592824" y="4901184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activity gradient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065008" y="4892040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138160" y="4901184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EO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9217152" y="4901184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ionic current drags water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B98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END-TO-END MODEL CHAIN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4008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membrane physics is evaluated inside a complete HVAC energy balance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847088"/>
            <a:ext cx="1591056" cy="199339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7008" y="1581912"/>
            <a:ext cx="493776" cy="493776"/>
          </a:xfrm>
          <a:prstGeom prst="ellipse">
            <a:avLst/>
          </a:prstGeom>
          <a:solidFill>
            <a:srgbClr val="3178C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07008" y="1600200"/>
            <a:ext cx="4937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258568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Moist-air states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34640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T, RH, w, h, dew point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0" y="2816352"/>
            <a:ext cx="201168" cy="0"/>
          </a:xfrm>
          <a:prstGeom prst="line">
            <a:avLst/>
          </a:prstGeom>
          <a:noFill/>
          <a:ln w="3048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42032" y="1847088"/>
            <a:ext cx="1591056" cy="199339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90672" y="1581912"/>
            <a:ext cx="493776" cy="493776"/>
          </a:xfrm>
          <a:prstGeom prst="ellipse">
            <a:avLst/>
          </a:prstGeom>
          <a:solidFill>
            <a:srgbClr val="3178C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90672" y="1600200"/>
            <a:ext cx="4937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688336" y="2258568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Passive ERV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688336" y="2834640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sensible + latent effectiveness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69664" y="2816352"/>
            <a:ext cx="201168" cy="0"/>
          </a:xfrm>
          <a:prstGeom prst="line">
            <a:avLst/>
          </a:prstGeom>
          <a:noFill/>
          <a:ln w="3048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25696" y="1847088"/>
            <a:ext cx="1591056" cy="199339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74336" y="1581912"/>
            <a:ext cx="493776" cy="493776"/>
          </a:xfrm>
          <a:prstGeom prst="ellipse">
            <a:avLst/>
          </a:prstGeom>
          <a:solidFill>
            <a:srgbClr val="00AFC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74336" y="1600200"/>
            <a:ext cx="4937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258568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membrane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2834640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EO − diffusion + films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53328" y="2816352"/>
            <a:ext cx="201168" cy="0"/>
          </a:xfrm>
          <a:prstGeom prst="line">
            <a:avLst/>
          </a:prstGeom>
          <a:noFill/>
          <a:ln w="3048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309360" y="1847088"/>
            <a:ext cx="1591056" cy="199339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1581912"/>
            <a:ext cx="493776" cy="493776"/>
          </a:xfrm>
          <a:prstGeom prst="ellipse">
            <a:avLst/>
          </a:prstGeom>
          <a:solidFill>
            <a:srgbClr val="00AFC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0" y="1600200"/>
            <a:ext cx="4937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55664" y="2258568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Core integration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55664" y="2834640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 representative segments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936992" y="2816352"/>
            <a:ext cx="201168" cy="0"/>
          </a:xfrm>
          <a:prstGeom prst="line">
            <a:avLst/>
          </a:prstGeom>
          <a:noFill/>
          <a:ln w="3048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193024" y="1847088"/>
            <a:ext cx="1591056" cy="199339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41664" y="1581912"/>
            <a:ext cx="493776" cy="493776"/>
          </a:xfrm>
          <a:prstGeom prst="ellipse">
            <a:avLst/>
          </a:prstGeom>
          <a:solidFill>
            <a:srgbClr val="00BDA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741664" y="1600200"/>
            <a:ext cx="4937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339328" y="2258568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Cooling coil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339328" y="2834640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ADP, BF, condensate, COP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820656" y="2816352"/>
            <a:ext cx="201168" cy="0"/>
          </a:xfrm>
          <a:prstGeom prst="line">
            <a:avLst/>
          </a:prstGeom>
          <a:noFill/>
          <a:ln w="3048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076688" y="1847088"/>
            <a:ext cx="1591056" cy="199339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625328" y="1581912"/>
            <a:ext cx="493776" cy="493776"/>
          </a:xfrm>
          <a:prstGeom prst="ellipse">
            <a:avLst/>
          </a:prstGeom>
          <a:solidFill>
            <a:srgbClr val="0B1F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625328" y="1600200"/>
            <a:ext cx="4937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0222992" y="2258568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 comparison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0222992" y="2834640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compressor + fans + EO + losses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58368" y="4325112"/>
            <a:ext cx="10972800" cy="1078992"/>
          </a:xfrm>
          <a:prstGeom prst="roundRect">
            <a:avLst>
              <a:gd name="adj" fmla="val 10169"/>
            </a:avLst>
          </a:prstGeom>
          <a:solidFill>
            <a:srgbClr val="123653"/>
          </a:solidFill>
          <a:ln w="12700">
            <a:solidFill>
              <a:srgbClr val="12365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96112" y="4526280"/>
            <a:ext cx="19385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Core modeling principle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2880360" y="4453128"/>
            <a:ext cx="8193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 kilogram of water removed from the process air must appear in the exhaust stream, and every included electrical load is carried into the final comparison.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571500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78C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Forward model: measured membrane vector → system outcome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0" y="571500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DA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Inverse design: required system outcome → target material region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413248" y="5870448"/>
            <a:ext cx="768096" cy="0"/>
          </a:xfrm>
          <a:prstGeom prst="line">
            <a:avLst/>
          </a:prstGeom>
          <a:noFill/>
          <a:ln w="22860">
            <a:solidFill>
              <a:srgbClr val="A7B6C2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B98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4008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Psychrometrics and passive ERV recovery set the boundary conditions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3246120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72768"/>
            <a:ext cx="73152" cy="1261872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1682496"/>
            <a:ext cx="2898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Moist-air state vector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1956816"/>
            <a:ext cx="2898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Temperature 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Relative humidity RH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Humidity ratio w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Enthalpy h, dew point and specific volume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3054096"/>
            <a:ext cx="3246120" cy="621792"/>
          </a:xfrm>
          <a:prstGeom prst="roundRect">
            <a:avLst>
              <a:gd name="adj" fmla="val 17647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108960"/>
            <a:ext cx="2916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 = m_water / m_dry air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8368" y="3822192"/>
            <a:ext cx="3246120" cy="713232"/>
          </a:xfrm>
          <a:prstGeom prst="roundRect">
            <a:avLst>
              <a:gd name="adj" fmla="val 15385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877056"/>
            <a:ext cx="2916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 ≈ 1.006T + w(2501 + 1.86T)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4681728"/>
            <a:ext cx="3246120" cy="621792"/>
          </a:xfrm>
          <a:prstGeom prst="roundRect">
            <a:avLst>
              <a:gd name="adj" fmla="val 17647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736592"/>
            <a:ext cx="2916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ṁw = ṁda (win − wout)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151376" y="3474720"/>
            <a:ext cx="521208" cy="0"/>
          </a:xfrm>
          <a:prstGeom prst="line">
            <a:avLst/>
          </a:prstGeom>
          <a:noFill/>
          <a:ln w="3810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36592" y="1572768"/>
            <a:ext cx="3246120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36592" y="1572768"/>
            <a:ext cx="73152" cy="1261872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56048" y="1682496"/>
            <a:ext cx="2898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Passive ERV effectiveness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956048" y="1956816"/>
            <a:ext cx="2898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Sensible effectiveness εs updates temperature.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Latent effectiveness εl updates humidity ratio.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36592" y="3054096"/>
            <a:ext cx="3246120" cy="621792"/>
          </a:xfrm>
          <a:prstGeom prst="roundRect">
            <a:avLst>
              <a:gd name="adj" fmla="val 17647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01184" y="3108960"/>
            <a:ext cx="2916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Tout = TOA − εs(TOA − Texh)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736592" y="3822192"/>
            <a:ext cx="3246120" cy="713232"/>
          </a:xfrm>
          <a:prstGeom prst="roundRect">
            <a:avLst>
              <a:gd name="adj" fmla="val 15385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01184" y="3877056"/>
            <a:ext cx="2916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wout = wOA − εl(wOA − wexh)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736592" y="4681728"/>
            <a:ext cx="3246120" cy="621792"/>
          </a:xfrm>
          <a:prstGeom prst="roundRect">
            <a:avLst>
              <a:gd name="adj" fmla="val 17647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01184" y="4736592"/>
            <a:ext cx="2916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Pfan = V̇ Δp / ηfan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229600" y="3474720"/>
            <a:ext cx="521208" cy="0"/>
          </a:xfrm>
          <a:prstGeom prst="line">
            <a:avLst/>
          </a:prstGeom>
          <a:noFill/>
          <a:ln w="3810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814816" y="1572768"/>
            <a:ext cx="2788920" cy="3730752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26880" y="1847088"/>
            <a:ext cx="1773936" cy="310896"/>
          </a:xfrm>
          <a:prstGeom prst="roundRect">
            <a:avLst>
              <a:gd name="adj" fmla="val 35294"/>
            </a:avLst>
          </a:prstGeom>
          <a:solidFill>
            <a:srgbClr val="FFF2E6"/>
          </a:solidFill>
          <a:ln w="12700">
            <a:solidFill>
              <a:srgbClr val="FFF2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400032" y="185623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F4A26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BALANCE CHECKS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153144" y="2496312"/>
            <a:ext cx="237744" cy="237744"/>
          </a:xfrm>
          <a:prstGeom prst="ellipse">
            <a:avLst/>
          </a:prstGeom>
          <a:solidFill>
            <a:srgbClr val="00BDAA"/>
          </a:solidFill>
          <a:ln w="12700">
            <a:solidFill>
              <a:srgbClr val="00BDA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53144" y="2487168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509760" y="2459736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Process / exhaust water balance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153144" y="3081528"/>
            <a:ext cx="237744" cy="237744"/>
          </a:xfrm>
          <a:prstGeom prst="ellipse">
            <a:avLst/>
          </a:prstGeom>
          <a:solidFill>
            <a:srgbClr val="00BDAA"/>
          </a:solidFill>
          <a:ln w="12700">
            <a:solidFill>
              <a:srgbClr val="00BDA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53144" y="3072384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509760" y="3044952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Enthalpy balance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153144" y="3666744"/>
            <a:ext cx="237744" cy="237744"/>
          </a:xfrm>
          <a:prstGeom prst="ellipse">
            <a:avLst/>
          </a:prstGeom>
          <a:solidFill>
            <a:srgbClr val="00BDAA"/>
          </a:solidFill>
          <a:ln w="12700">
            <a:solidFill>
              <a:srgbClr val="00BDA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53144" y="3657600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509760" y="3630168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untreated condensation state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153144" y="4251960"/>
            <a:ext cx="237744" cy="237744"/>
          </a:xfrm>
          <a:prstGeom prst="ellipse">
            <a:avLst/>
          </a:prstGeom>
          <a:solidFill>
            <a:srgbClr val="00BDAA"/>
          </a:solidFill>
          <a:ln w="12700">
            <a:solidFill>
              <a:srgbClr val="00BDA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153144" y="4242816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9509760" y="4215384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Fan pressure-drop penalty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9107424" y="4800600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Output: local T and water-activity boundaries for the active membrane.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B98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4008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Net water transport is EO drag minus opposing diffusion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536192"/>
            <a:ext cx="10332720" cy="768096"/>
          </a:xfrm>
          <a:prstGeom prst="roundRect">
            <a:avLst>
              <a:gd name="adj" fmla="val 14286"/>
            </a:avLst>
          </a:prstGeom>
          <a:solidFill>
            <a:srgbClr val="EAF3F6"/>
          </a:solidFill>
          <a:ln w="12700">
            <a:solidFill>
              <a:srgbClr val="EAF3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" y="1591056"/>
            <a:ext cx="10003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Nw = tw · j / F  −  Dw(aw) Sw(aw) · daw/dx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86384" y="2651760"/>
            <a:ext cx="5230368" cy="1920240"/>
          </a:xfrm>
          <a:prstGeom prst="roundRect">
            <a:avLst>
              <a:gd name="adj" fmla="val 5714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907792"/>
            <a:ext cx="1883664" cy="310896"/>
          </a:xfrm>
          <a:prstGeom prst="roundRect">
            <a:avLst>
              <a:gd name="adj" fmla="val 35294"/>
            </a:avLst>
          </a:prstGeom>
          <a:solidFill>
            <a:srgbClr val="CBEFE8"/>
          </a:solidFill>
          <a:ln w="12700">
            <a:solidFill>
              <a:srgbClr val="CBEF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24712" y="29169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00BDA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ELECTRO-OSMOTIC TERM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3383280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NEO = tw · j / F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3163824" y="3200400"/>
            <a:ext cx="24414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Ionic current carries additional water through the membrane.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2651760"/>
            <a:ext cx="5230368" cy="1920240"/>
          </a:xfrm>
          <a:prstGeom prst="roundRect">
            <a:avLst>
              <a:gd name="adj" fmla="val 5714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37376" y="2907792"/>
            <a:ext cx="1444752" cy="310896"/>
          </a:xfrm>
          <a:prstGeom prst="roundRect">
            <a:avLst>
              <a:gd name="adj" fmla="val 35294"/>
            </a:avLst>
          </a:prstGeom>
          <a:solidFill>
            <a:srgbClr val="D4E6F7"/>
          </a:solidFill>
          <a:ln w="12700">
            <a:solidFill>
              <a:srgbClr val="D4E6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2916936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3178C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DIFFUSIVE TERM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3383280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Ndiff = −Dw Sw · daw/dx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906256" y="3200400"/>
            <a:ext cx="20391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Activity gradients can oppose the desired EO direction.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31536" y="4160520"/>
            <a:ext cx="996696" cy="0"/>
          </a:xfrm>
          <a:prstGeom prst="line">
            <a:avLst/>
          </a:prstGeom>
          <a:noFill/>
          <a:ln w="27940">
            <a:solidFill>
              <a:srgbClr val="A7B6C2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86384" y="4892040"/>
            <a:ext cx="10616184" cy="868680"/>
          </a:xfrm>
          <a:prstGeom prst="roundRect">
            <a:avLst>
              <a:gd name="adj" fmla="val 12632"/>
            </a:avLst>
          </a:prstGeom>
          <a:solidFill>
            <a:srgbClr val="123653"/>
          </a:solidFill>
          <a:ln w="12700">
            <a:solidFill>
              <a:srgbClr val="12365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78992" y="5074920"/>
            <a:ext cx="6812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tw is an input in the current inverse-design model—not a predicted material property.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4992624"/>
            <a:ext cx="31455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C9D8E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 tw values remain hypothetical until measured in vapor–membrane–vapor conditions.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042416" y="5925312"/>
            <a:ext cx="10104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Practical gross EO flux:  JEO,gross ≈ 0.672 · tw · j  [g m⁻² h⁻¹]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B98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4008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Voltage control couples transport to hydration-dependent resistance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9808" y="1508760"/>
            <a:ext cx="6510528" cy="713232"/>
          </a:xfrm>
          <a:prstGeom prst="roundRect">
            <a:avLst>
              <a:gd name="adj" fmla="val 15385"/>
            </a:avLst>
          </a:prstGeom>
          <a:solidFill>
            <a:srgbClr val="EAF3F6"/>
          </a:solidFill>
          <a:ln w="12700">
            <a:solidFill>
              <a:srgbClr val="EAF3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563624"/>
            <a:ext cx="6181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dV/dx = j / σ(aw)  +  tw · RT/F · d ln(aw)/dx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9808" y="2514600"/>
            <a:ext cx="1993392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514600"/>
            <a:ext cx="73152" cy="1847088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62432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Ohmic drop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9264" y="2898648"/>
            <a:ext cx="164592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Vohm = j · ASRmembrane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Thickness ↑ or conductivity ↓ → voltage ↑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62656" y="2514600"/>
            <a:ext cx="1993392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62656" y="2514600"/>
            <a:ext cx="73152" cy="1847088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82112" y="262432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Water polarization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182112" y="2898648"/>
            <a:ext cx="164592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Vwater = tw · RT/F · ln(ar/as)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Higher tw also raises reversible water work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75504" y="2514600"/>
            <a:ext cx="1993392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75504" y="2514600"/>
            <a:ext cx="73152" cy="18470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94960" y="262432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Series + fixed losses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2898648"/>
            <a:ext cx="164592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 · ASRseries + Vfixed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Electrodes, contacts and electronics matter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34656" y="1508760"/>
            <a:ext cx="4005072" cy="4343400"/>
          </a:xfrm>
          <a:prstGeom prst="roundRect">
            <a:avLst>
              <a:gd name="adj" fmla="val 2740"/>
            </a:avLst>
          </a:prstGeom>
          <a:solidFill>
            <a:srgbClr val="123653"/>
          </a:solidFill>
          <a:ln w="12700">
            <a:solidFill>
              <a:srgbClr val="12365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0" y="1792224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MATERIAL VECTOR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2249424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{ tw, D, S, σ, L, ASR }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973568" y="2926080"/>
            <a:ext cx="3127248" cy="493776"/>
          </a:xfrm>
          <a:prstGeom prst="roundRect">
            <a:avLst>
              <a:gd name="adj" fmla="val 22222"/>
            </a:avLst>
          </a:prstGeom>
          <a:solidFill>
            <a:srgbClr val="173C59"/>
          </a:solidFill>
          <a:ln w="12700">
            <a:solidFill>
              <a:srgbClr val="173C5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47304" y="3008376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AFC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D(aw)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933688" y="300837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6E4E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water diffusivity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73568" y="3593592"/>
            <a:ext cx="3127248" cy="493776"/>
          </a:xfrm>
          <a:prstGeom prst="roundRect">
            <a:avLst>
              <a:gd name="adj" fmla="val 22222"/>
            </a:avLst>
          </a:prstGeom>
          <a:solidFill>
            <a:srgbClr val="173C59"/>
          </a:solidFill>
          <a:ln w="12700">
            <a:solidFill>
              <a:srgbClr val="173C5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47304" y="36758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AFC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σ(aw)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933688" y="367588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6E4E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ionic conductivity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73568" y="4261104"/>
            <a:ext cx="3127248" cy="493776"/>
          </a:xfrm>
          <a:prstGeom prst="roundRect">
            <a:avLst>
              <a:gd name="adj" fmla="val 22222"/>
            </a:avLst>
          </a:prstGeom>
          <a:solidFill>
            <a:srgbClr val="173C59"/>
          </a:solidFill>
          <a:ln w="12700">
            <a:solidFill>
              <a:srgbClr val="173C5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47304" y="4343400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AFC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S(aw)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933688" y="434340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6E4E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differential sorption capacity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028432" y="5102352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Drying can reduce σ, increase resistance, lower current and raise the required voltage.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04672" y="5029200"/>
            <a:ext cx="6172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At fixed terminal voltage, current density is solved—not freely selected.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B98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CORE INTEGRATION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4008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Gas films and changing air states make local solutions essential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08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3178C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PROCESS AIR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49808" y="2011680"/>
            <a:ext cx="10360152" cy="0"/>
          </a:xfrm>
          <a:prstGeom prst="line">
            <a:avLst/>
          </a:prstGeom>
          <a:noFill/>
          <a:ln w="40640">
            <a:solidFill>
              <a:srgbClr val="3178C6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731520" y="45537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00BDA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EXHAUST AIR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109960" y="4160520"/>
            <a:ext cx="-10360152" cy="0"/>
          </a:xfrm>
          <a:prstGeom prst="line">
            <a:avLst/>
          </a:prstGeom>
          <a:noFill/>
          <a:ln w="40640">
            <a:solidFill>
              <a:srgbClr val="00BDA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51560" y="2359152"/>
            <a:ext cx="1005840" cy="13716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0" y="24963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B6C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54480" y="2852928"/>
            <a:ext cx="0" cy="521208"/>
          </a:xfrm>
          <a:prstGeom prst="line">
            <a:avLst/>
          </a:prstGeom>
          <a:noFill/>
          <a:ln w="2286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1207008" y="3154680"/>
            <a:ext cx="69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T, w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update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22576" y="2359152"/>
            <a:ext cx="1005840" cy="13716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42616" y="24963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B6C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25496" y="2852928"/>
            <a:ext cx="0" cy="521208"/>
          </a:xfrm>
          <a:prstGeom prst="line">
            <a:avLst/>
          </a:prstGeom>
          <a:noFill/>
          <a:ln w="2286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2478024" y="3154680"/>
            <a:ext cx="69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T, w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update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93592" y="2359152"/>
            <a:ext cx="1005840" cy="13716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13632" y="24963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B6C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96512" y="2852928"/>
            <a:ext cx="0" cy="521208"/>
          </a:xfrm>
          <a:prstGeom prst="line">
            <a:avLst/>
          </a:prstGeom>
          <a:noFill/>
          <a:ln w="2286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3749040" y="3154680"/>
            <a:ext cx="69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T, w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update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64608" y="2359152"/>
            <a:ext cx="1005840" cy="13716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84648" y="24963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B6C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67528" y="2852928"/>
            <a:ext cx="0" cy="521208"/>
          </a:xfrm>
          <a:prstGeom prst="line">
            <a:avLst/>
          </a:prstGeom>
          <a:noFill/>
          <a:ln w="2286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5020056" y="3154680"/>
            <a:ext cx="69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T, w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update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35624" y="2359152"/>
            <a:ext cx="1005840" cy="13716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55664" y="24963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B6C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38544" y="2852928"/>
            <a:ext cx="0" cy="521208"/>
          </a:xfrm>
          <a:prstGeom prst="line">
            <a:avLst/>
          </a:prstGeom>
          <a:noFill/>
          <a:ln w="2286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6291072" y="3154680"/>
            <a:ext cx="69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T, w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update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06640" y="2359152"/>
            <a:ext cx="1005840" cy="1371600"/>
          </a:xfrm>
          <a:prstGeom prst="roundRect">
            <a:avLst>
              <a:gd name="adj" fmla="val 10909"/>
            </a:avLst>
          </a:prstGeom>
          <a:solidFill>
            <a:srgbClr val="E6F7F4"/>
          </a:solidFill>
          <a:ln w="12700">
            <a:solidFill>
              <a:srgbClr val="00BDA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26680" y="24963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DA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909560" y="2852928"/>
            <a:ext cx="0" cy="521208"/>
          </a:xfrm>
          <a:prstGeom prst="line">
            <a:avLst/>
          </a:prstGeom>
          <a:noFill/>
          <a:ln w="2286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7562088" y="3154680"/>
            <a:ext cx="69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DA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BDA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solve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677656" y="2359152"/>
            <a:ext cx="1005840" cy="13716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97696" y="24963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B6C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180576" y="2852928"/>
            <a:ext cx="0" cy="521208"/>
          </a:xfrm>
          <a:prstGeom prst="line">
            <a:avLst/>
          </a:prstGeom>
          <a:noFill/>
          <a:ln w="2286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8833104" y="3154680"/>
            <a:ext cx="69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T, w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update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948672" y="2359152"/>
            <a:ext cx="1005840" cy="13716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268712" y="24963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B6C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0451592" y="2852928"/>
            <a:ext cx="0" cy="521208"/>
          </a:xfrm>
          <a:prstGeom prst="line">
            <a:avLst/>
          </a:prstGeom>
          <a:noFill/>
          <a:ln w="2286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10104120" y="3154680"/>
            <a:ext cx="69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T, w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update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49808" y="4892040"/>
            <a:ext cx="3218688" cy="612648"/>
          </a:xfrm>
          <a:prstGeom prst="roundRect">
            <a:avLst>
              <a:gd name="adj" fmla="val 1791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14400" y="4946904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Nw = Ks(as,bulk − as,surface)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4215384" y="4892040"/>
            <a:ext cx="2176272" cy="612648"/>
          </a:xfrm>
          <a:prstGeom prst="roundRect">
            <a:avLst>
              <a:gd name="adj" fmla="val 17910"/>
            </a:avLst>
          </a:prstGeom>
          <a:solidFill>
            <a:srgbClr val="EAF3F6"/>
          </a:solidFill>
          <a:ln w="12700">
            <a:solidFill>
              <a:srgbClr val="EAF3F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379976" y="4946904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Ai = ṅw,i / Nw,i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6629400" y="4892040"/>
            <a:ext cx="2176272" cy="612648"/>
          </a:xfrm>
          <a:prstGeom prst="roundRect">
            <a:avLst>
              <a:gd name="adj" fmla="val 17910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793992" y="4946904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 EO = Σ Vi ji Ai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9043416" y="4892040"/>
            <a:ext cx="2221992" cy="612648"/>
          </a:xfrm>
          <a:prstGeom prst="roundRect">
            <a:avLst>
              <a:gd name="adj" fmla="val 1791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208008" y="4946904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Nw = Kr(ar,surface − ar,bulk)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749808" y="5760720"/>
            <a:ext cx="10515600" cy="438912"/>
          </a:xfrm>
          <a:prstGeom prst="roundRect">
            <a:avLst>
              <a:gd name="adj" fmla="val 25000"/>
            </a:avLst>
          </a:prstGeom>
          <a:solidFill>
            <a:srgbClr val="FFF2E6"/>
          </a:solidFill>
          <a:ln w="12700">
            <a:solidFill>
              <a:srgbClr val="FFF2E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14400" y="5833872"/>
            <a:ext cx="10186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Illustrative boundary case: 16.80 mg/h gross Faraday rate → 12.37 mg/h net (73.6%) after films and back-diffusion.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B98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HVAC LINKAGE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4008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Pre-drying can reduce condensate duty and improve compressor COP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828800"/>
            <a:ext cx="192024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828800"/>
            <a:ext cx="73152" cy="1298448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938528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Active ERV outlet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212848"/>
            <a:ext cx="1572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Lower w before coil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0" y="2478024"/>
            <a:ext cx="292608" cy="0"/>
          </a:xfrm>
          <a:prstGeom prst="line">
            <a:avLst/>
          </a:prstGeom>
          <a:noFill/>
          <a:ln w="3048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26080" y="1828800"/>
            <a:ext cx="192024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1828800"/>
            <a:ext cx="73152" cy="1298448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45536" y="1938528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Coil ADP solution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145536" y="2212848"/>
            <a:ext cx="1572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BF mixes inlet and ADP states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64608" y="2478024"/>
            <a:ext cx="292608" cy="0"/>
          </a:xfrm>
          <a:prstGeom prst="line">
            <a:avLst/>
          </a:prstGeom>
          <a:noFill/>
          <a:ln w="3048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30368" y="1828800"/>
            <a:ext cx="192024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30368" y="1828800"/>
            <a:ext cx="73152" cy="1298448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49824" y="1938528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Cooling load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49824" y="2212848"/>
            <a:ext cx="1572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ṁda(hin − hoff-coil)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68896" y="2478024"/>
            <a:ext cx="292608" cy="0"/>
          </a:xfrm>
          <a:prstGeom prst="line">
            <a:avLst/>
          </a:prstGeom>
          <a:noFill/>
          <a:ln w="3048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34656" y="1828800"/>
            <a:ext cx="192024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34656" y="1828800"/>
            <a:ext cx="73152" cy="1298448"/>
          </a:xfrm>
          <a:prstGeom prst="rect">
            <a:avLst/>
          </a:prstGeom>
          <a:solidFill>
            <a:srgbClr val="00BDAA"/>
          </a:solidFill>
          <a:ln w="12700">
            <a:solidFill>
              <a:srgbClr val="00BDA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54112" y="1938528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Variable COP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54112" y="2212848"/>
            <a:ext cx="1572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scaled Carnot relation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473184" y="2478024"/>
            <a:ext cx="292608" cy="0"/>
          </a:xfrm>
          <a:prstGeom prst="line">
            <a:avLst/>
          </a:prstGeom>
          <a:noFill/>
          <a:ln w="3048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38944" y="1828800"/>
            <a:ext cx="192024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38944" y="1828800"/>
            <a:ext cx="73152" cy="129844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58400" y="1938528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Electrical power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0" y="2212848"/>
            <a:ext cx="1572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Qcool / COP + reheat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" y="3520440"/>
            <a:ext cx="5358384" cy="1874520"/>
          </a:xfrm>
          <a:prstGeom prst="roundRect">
            <a:avLst>
              <a:gd name="adj" fmla="val 5854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" y="3767328"/>
            <a:ext cx="1371600" cy="310896"/>
          </a:xfrm>
          <a:prstGeom prst="roundRect">
            <a:avLst>
              <a:gd name="adj" fmla="val 35294"/>
            </a:avLst>
          </a:prstGeom>
          <a:solidFill>
            <a:srgbClr val="D4E6F7"/>
          </a:solidFill>
          <a:ln w="12700">
            <a:solidFill>
              <a:srgbClr val="D4E6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9264" y="377647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3178C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COIL EQUATIONS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" y="41879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woff = BF · win + (1 − BF) · wADP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96112" y="4599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ṁcond = ṁda(win − woff)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6217920" y="352044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2240" y="3767328"/>
            <a:ext cx="1371600" cy="310896"/>
          </a:xfrm>
          <a:prstGeom prst="roundRect">
            <a:avLst>
              <a:gd name="adj" fmla="val 35294"/>
            </a:avLst>
          </a:prstGeom>
          <a:solidFill>
            <a:srgbClr val="CBEFE8"/>
          </a:solidFill>
          <a:ln w="12700">
            <a:solidFill>
              <a:srgbClr val="CBEF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65392" y="377647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00BDA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DOUBLE BENEFIT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556248" y="4297680"/>
            <a:ext cx="237744" cy="237744"/>
          </a:xfrm>
          <a:prstGeom prst="ellipse">
            <a:avLst/>
          </a:prstGeom>
          <a:solidFill>
            <a:srgbClr val="00BDAA"/>
          </a:solidFill>
          <a:ln w="12700">
            <a:solidFill>
              <a:srgbClr val="00BDA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56248" y="4288536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894576" y="425196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Less water must be condensed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556248" y="4791456"/>
            <a:ext cx="237744" cy="237744"/>
          </a:xfrm>
          <a:prstGeom prst="ellipse">
            <a:avLst/>
          </a:prstGeom>
          <a:solidFill>
            <a:srgbClr val="00BDAA"/>
          </a:solidFill>
          <a:ln w="12700">
            <a:solidFill>
              <a:srgbClr val="00BDA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56248" y="4782312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894576" y="472744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Higher evaporating temperature may increase COP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21792" y="5833872"/>
            <a:ext cx="10945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coil remains necessary at O30.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B98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SELECTED OPERATING POINT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4008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O30 is an intermediate humidity state—not the final supply condition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2011680"/>
            <a:ext cx="27432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011680"/>
            <a:ext cx="2743200" cy="91440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304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Passive ERV outlet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825496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178C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13.215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364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g/kg dry air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2953512"/>
            <a:ext cx="804672" cy="0"/>
          </a:xfrm>
          <a:prstGeom prst="line">
            <a:avLst/>
          </a:prstGeom>
          <a:noFill/>
          <a:ln w="4064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98848" y="2011680"/>
            <a:ext cx="27432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8848" y="2011680"/>
            <a:ext cx="2743200" cy="91440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81728" y="2304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O30 active ERV outlet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2825496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8.886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4681728" y="3364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g/kg dry air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51776" y="2953512"/>
            <a:ext cx="804672" cy="0"/>
          </a:xfrm>
          <a:prstGeom prst="line">
            <a:avLst/>
          </a:prstGeom>
          <a:noFill/>
          <a:ln w="4064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84464" y="2011680"/>
            <a:ext cx="27432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84464" y="2011680"/>
            <a:ext cx="2743200" cy="91440"/>
          </a:xfrm>
          <a:prstGeom prst="rect">
            <a:avLst/>
          </a:prstGeom>
          <a:solidFill>
            <a:srgbClr val="00BDAA"/>
          </a:solidFill>
          <a:ln w="12700">
            <a:solidFill>
              <a:srgbClr val="00BDA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67344" y="2304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Final target: 20°C / 50% RH*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467344" y="2825496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DA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≈ 7.3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8467344" y="3364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g/kg dry air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256032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ACTIVE ERV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187184" y="25603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3178C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COOLING COIL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3232" y="4325112"/>
            <a:ext cx="10314432" cy="1097280"/>
          </a:xfrm>
          <a:prstGeom prst="roundRect">
            <a:avLst>
              <a:gd name="adj" fmla="val 10000"/>
            </a:avLst>
          </a:prstGeom>
          <a:solidFill>
            <a:srgbClr val="123653"/>
          </a:solidFill>
          <a:ln w="12700">
            <a:solidFill>
              <a:srgbClr val="12365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1832" y="45262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304288" y="4462272"/>
            <a:ext cx="8211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EO removes most of the remaining moisture after passive recovery; the coil still cools and dehumidifies to the final supply state.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5724144"/>
            <a:ext cx="10232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A7B6C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*Approximate humidity ratio at 101.3 kPa; the model uses the exact psychrometric state.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B98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 ACCOUNTING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4008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Known power falls by 125.34 kW versus the same ERV with EO switched off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8288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 only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33472" y="1755648"/>
            <a:ext cx="7882128" cy="530352"/>
          </a:xfrm>
          <a:prstGeom prst="roundRect">
            <a:avLst>
              <a:gd name="adj" fmla="val 12069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33472" y="1755648"/>
            <a:ext cx="7661428" cy="530352"/>
          </a:xfrm>
          <a:prstGeom prst="roundRect">
            <a:avLst>
              <a:gd name="adj" fmla="val 1206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404628" y="184708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1166.400 kW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9077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Passive ERV + AC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33472" y="2834640"/>
            <a:ext cx="7882128" cy="530352"/>
          </a:xfrm>
          <a:prstGeom prst="roundRect">
            <a:avLst>
              <a:gd name="adj" fmla="val 12069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2834640"/>
            <a:ext cx="3571530" cy="530352"/>
          </a:xfrm>
          <a:prstGeom prst="roundRect">
            <a:avLst>
              <a:gd name="adj" fmla="val 12069"/>
            </a:avLst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14730" y="2926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78C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543.741 kW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398678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Active ERV + EO + AC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33472" y="3913632"/>
            <a:ext cx="7882128" cy="530352"/>
          </a:xfrm>
          <a:prstGeom prst="roundRect">
            <a:avLst>
              <a:gd name="adj" fmla="val 12069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33472" y="3913632"/>
            <a:ext cx="2748235" cy="530352"/>
          </a:xfrm>
          <a:prstGeom prst="roundRect">
            <a:avLst>
              <a:gd name="adj" fmla="val 12069"/>
            </a:avLst>
          </a:prstGeom>
          <a:solidFill>
            <a:srgbClr val="00BDAA"/>
          </a:solidFill>
          <a:ln w="12700">
            <a:solidFill>
              <a:srgbClr val="00BDA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91435" y="400507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DA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418.400 kW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33472" y="4882896"/>
            <a:ext cx="0" cy="109728"/>
          </a:xfrm>
          <a:prstGeom prst="line">
            <a:avLst/>
          </a:prstGeom>
          <a:noFill/>
          <a:ln w="12700">
            <a:solidFill>
              <a:srgbClr val="A7B6C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32304" y="501091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47160" y="4882896"/>
            <a:ext cx="0" cy="109728"/>
          </a:xfrm>
          <a:prstGeom prst="line">
            <a:avLst/>
          </a:prstGeom>
          <a:noFill/>
          <a:ln w="12700">
            <a:solidFill>
              <a:srgbClr val="A7B6C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45992" y="501091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60848" y="4882896"/>
            <a:ext cx="0" cy="109728"/>
          </a:xfrm>
          <a:prstGeom prst="line">
            <a:avLst/>
          </a:prstGeom>
          <a:noFill/>
          <a:ln w="12700">
            <a:solidFill>
              <a:srgbClr val="A7B6C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59680" y="501091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74536" y="4882896"/>
            <a:ext cx="0" cy="109728"/>
          </a:xfrm>
          <a:prstGeom prst="line">
            <a:avLst/>
          </a:prstGeom>
          <a:noFill/>
          <a:ln w="12700">
            <a:solidFill>
              <a:srgbClr val="A7B6C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73368" y="501091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888224" y="4882896"/>
            <a:ext cx="0" cy="109728"/>
          </a:xfrm>
          <a:prstGeom prst="line">
            <a:avLst/>
          </a:prstGeom>
          <a:noFill/>
          <a:ln w="12700">
            <a:solidFill>
              <a:srgbClr val="A7B6C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87056" y="501091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800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201912" y="4882896"/>
            <a:ext cx="0" cy="109728"/>
          </a:xfrm>
          <a:prstGeom prst="line">
            <a:avLst/>
          </a:prstGeom>
          <a:noFill/>
          <a:ln w="12700">
            <a:solidFill>
              <a:srgbClr val="A7B6C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00744" y="501091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515600" y="4882896"/>
            <a:ext cx="0" cy="109728"/>
          </a:xfrm>
          <a:prstGeom prst="line">
            <a:avLst/>
          </a:prstGeom>
          <a:noFill/>
          <a:ln w="12700">
            <a:solidFill>
              <a:srgbClr val="A7B6C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14432" y="501091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1200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513832" y="5340096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Known electrical power [kW]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8368" y="5650992"/>
            <a:ext cx="5047488" cy="548640"/>
          </a:xfrm>
          <a:prstGeom prst="roundRect">
            <a:avLst>
              <a:gd name="adj" fmla="val 2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8680" y="5760720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178C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Passive recovery: −622.659 kW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943600" y="5650992"/>
            <a:ext cx="5477256" cy="548640"/>
          </a:xfrm>
          <a:prstGeom prst="roundRect">
            <a:avLst>
              <a:gd name="adj" fmla="val 20000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53912" y="576072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DA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Incremental EO window: −125.340 kW  |  −23.05%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B98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O30 MASS AND POWER BALANCE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4008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Separate total core transport from the incremental EO duty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1554480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Water transport through active ERV core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1874520"/>
            <a:ext cx="6537960" cy="694944"/>
          </a:xfrm>
          <a:prstGeom prst="roundRect">
            <a:avLst>
              <a:gd name="adj" fmla="val 10526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874520"/>
            <a:ext cx="4698574" cy="694944"/>
          </a:xfrm>
          <a:prstGeom prst="roundRect">
            <a:avLst>
              <a:gd name="adj" fmla="val 10526"/>
            </a:avLst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75230" y="1874520"/>
            <a:ext cx="1912538" cy="694944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029968"/>
            <a:ext cx="4378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Passive  3,137.6 kg/h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48382" y="1920240"/>
            <a:ext cx="18393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EO increment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1,228.3 kg/h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724912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Total = 4,365.9 kg/h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9808" y="3227832"/>
            <a:ext cx="202996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3227832"/>
            <a:ext cx="73152" cy="1234440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78408" y="3346704"/>
            <a:ext cx="15727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740</a:t>
            </a:r>
            <a:endParaRPr lang="en-US" sz="2900" dirty="0"/>
          </a:p>
        </p:txBody>
      </p:sp>
      <p:sp>
        <p:nvSpPr>
          <p:cNvPr id="14" name="Text 12"/>
          <p:cNvSpPr txBox="1"/>
          <p:nvPr/>
        </p:nvSpPr>
        <p:spPr>
          <a:xfrm>
            <a:off x="978408" y="377647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178C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 m⁻² h⁻¹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78408" y="401421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Average total core flux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916936" y="3227832"/>
            <a:ext cx="202996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16936" y="3227832"/>
            <a:ext cx="73152" cy="1234440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45536" y="3346704"/>
            <a:ext cx="15727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208</a:t>
            </a:r>
            <a:endParaRPr lang="en-US" sz="2900" dirty="0"/>
          </a:p>
        </p:txBody>
      </p:sp>
      <p:sp>
        <p:nvSpPr>
          <p:cNvPr id="19" name="Text 17"/>
          <p:cNvSpPr txBox="1"/>
          <p:nvPr/>
        </p:nvSpPr>
        <p:spPr>
          <a:xfrm>
            <a:off x="3145536" y="377647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 m⁻² h⁻¹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145536" y="401421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EO increment / area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84064" y="3227832"/>
            <a:ext cx="220370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84064" y="3227832"/>
            <a:ext cx="73152" cy="1234440"/>
          </a:xfrm>
          <a:prstGeom prst="rect">
            <a:avLst/>
          </a:prstGeom>
          <a:solidFill>
            <a:srgbClr val="00BDAA"/>
          </a:solidFill>
          <a:ln w="12700">
            <a:solidFill>
              <a:srgbClr val="00BDA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12664" y="3346704"/>
            <a:ext cx="17465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200–250</a:t>
            </a:r>
            <a:endParaRPr lang="en-US" sz="2900" dirty="0"/>
          </a:p>
        </p:txBody>
      </p:sp>
      <p:sp>
        <p:nvSpPr>
          <p:cNvPr id="24" name="Text 22"/>
          <p:cNvSpPr txBox="1"/>
          <p:nvPr/>
        </p:nvSpPr>
        <p:spPr>
          <a:xfrm>
            <a:off x="5312664" y="3776472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DA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 m⁻² h⁻¹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312664" y="401421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Coupon-test target range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616952" y="1554480"/>
            <a:ext cx="3785616" cy="45262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1847088"/>
            <a:ext cx="2587752" cy="310896"/>
          </a:xfrm>
          <a:prstGeom prst="roundRect">
            <a:avLst>
              <a:gd name="adj" fmla="val 35294"/>
            </a:avLst>
          </a:prstGeom>
          <a:solidFill>
            <a:srgbClr val="EAF3F6"/>
          </a:solidFill>
          <a:ln w="12700">
            <a:solidFill>
              <a:srgbClr val="EAF3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28432" y="185623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KNOWN ACTIVE-SYSTEM SPLIT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010144" y="237744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3178C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316.910</a:t>
            </a:r>
            <a:endParaRPr lang="en-US" sz="2700" dirty="0"/>
          </a:p>
        </p:txBody>
      </p:sp>
      <p:sp>
        <p:nvSpPr>
          <p:cNvPr id="30" name="Text 28"/>
          <p:cNvSpPr txBox="1"/>
          <p:nvPr/>
        </p:nvSpPr>
        <p:spPr>
          <a:xfrm>
            <a:off x="9491472" y="2487168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178C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kW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985248" y="2450592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remaining AC power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28432" y="2980944"/>
            <a:ext cx="3017520" cy="0"/>
          </a:xfrm>
          <a:prstGeom prst="line">
            <a:avLst/>
          </a:prstGeom>
          <a:noFill/>
          <a:ln w="12700">
            <a:solidFill>
              <a:srgbClr val="D4E0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10144" y="321868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≈101.490</a:t>
            </a:r>
            <a:endParaRPr lang="en-US" sz="2700" dirty="0"/>
          </a:p>
        </p:txBody>
      </p:sp>
      <p:sp>
        <p:nvSpPr>
          <p:cNvPr id="34" name="Text 32"/>
          <p:cNvSpPr txBox="1"/>
          <p:nvPr/>
        </p:nvSpPr>
        <p:spPr>
          <a:xfrm>
            <a:off x="9491472" y="3328416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kW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985248" y="3136392"/>
            <a:ext cx="1078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included active-core and other contributions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28432" y="3904488"/>
            <a:ext cx="3017520" cy="0"/>
          </a:xfrm>
          <a:prstGeom prst="line">
            <a:avLst/>
          </a:prstGeom>
          <a:noFill/>
          <a:ln w="12700">
            <a:solidFill>
              <a:srgbClr val="D4E0E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991856" y="4160520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BDA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418.400 kW</a:t>
            </a:r>
            <a:endParaRPr lang="en-US" sz="2700" dirty="0"/>
          </a:p>
        </p:txBody>
      </p:sp>
      <p:sp>
        <p:nvSpPr>
          <p:cNvPr id="38" name="Text 36"/>
          <p:cNvSpPr txBox="1"/>
          <p:nvPr/>
        </p:nvSpPr>
        <p:spPr>
          <a:xfrm>
            <a:off x="7991856" y="46908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known modeled total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991856" y="5175504"/>
            <a:ext cx="3063240" cy="594360"/>
          </a:xfrm>
          <a:prstGeom prst="roundRect">
            <a:avLst>
              <a:gd name="adj" fmla="val 18462"/>
            </a:avLst>
          </a:prstGeom>
          <a:solidFill>
            <a:srgbClr val="FFF2E6"/>
          </a:solidFill>
          <a:ln w="12700">
            <a:solidFill>
              <a:srgbClr val="FFF2E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183880" y="5266944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Unmodeled losses must fit within 125.34 kW.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B98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SELECTED RESULT FRONTIER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4008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Deeper drying trades voltage, membrane area and system power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41248" y="1709928"/>
            <a:ext cx="0" cy="3493008"/>
          </a:xfrm>
          <a:prstGeom prst="line">
            <a:avLst/>
          </a:prstGeom>
          <a:noFill/>
          <a:ln w="15240">
            <a:solidFill>
              <a:srgbClr val="A7B6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5202936"/>
            <a:ext cx="6510528" cy="0"/>
          </a:xfrm>
          <a:prstGeom prst="line">
            <a:avLst/>
          </a:prstGeom>
          <a:noFill/>
          <a:ln w="15240">
            <a:solidFill>
              <a:srgbClr val="A7B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4814824"/>
            <a:ext cx="6510528" cy="0"/>
          </a:xfrm>
          <a:prstGeom prst="line">
            <a:avLst/>
          </a:prstGeom>
          <a:noFill/>
          <a:ln w="10160">
            <a:solidFill>
              <a:srgbClr val="D4E0E6">
                <a:alpha val="7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" y="4705096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420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41248" y="4038600"/>
            <a:ext cx="6510528" cy="0"/>
          </a:xfrm>
          <a:prstGeom prst="line">
            <a:avLst/>
          </a:prstGeom>
          <a:noFill/>
          <a:ln w="10160">
            <a:solidFill>
              <a:srgbClr val="D4E0E6">
                <a:alpha val="75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" y="3928872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440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41248" y="3262376"/>
            <a:ext cx="6510528" cy="0"/>
          </a:xfrm>
          <a:prstGeom prst="line">
            <a:avLst/>
          </a:prstGeom>
          <a:noFill/>
          <a:ln w="10160">
            <a:solidFill>
              <a:srgbClr val="D4E0E6">
                <a:alpha val="75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184" y="3152648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460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41248" y="2486152"/>
            <a:ext cx="6510528" cy="0"/>
          </a:xfrm>
          <a:prstGeom prst="line">
            <a:avLst/>
          </a:prstGeom>
          <a:noFill/>
          <a:ln w="10160">
            <a:solidFill>
              <a:srgbClr val="D4E0E6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" y="2376424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480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41248" y="1709928"/>
            <a:ext cx="6510528" cy="0"/>
          </a:xfrm>
          <a:prstGeom prst="line">
            <a:avLst/>
          </a:prstGeom>
          <a:noFill/>
          <a:ln w="10160">
            <a:solidFill>
              <a:srgbClr val="D4E0E6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9184" y="1600200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500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496728" y="531266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210025" y="531266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923322" y="531266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11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636619" y="531266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37787" y="2079605"/>
            <a:ext cx="-1713297" cy="1707343"/>
          </a:xfrm>
          <a:prstGeom prst="line">
            <a:avLst/>
          </a:prstGeom>
          <a:noFill/>
          <a:ln w="31750">
            <a:solidFill>
              <a:srgbClr val="00AF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4490" y="3786948"/>
            <a:ext cx="-1713297" cy="668639"/>
          </a:xfrm>
          <a:prstGeom prst="line">
            <a:avLst/>
          </a:prstGeom>
          <a:noFill/>
          <a:ln w="31750">
            <a:solidFill>
              <a:srgbClr val="00AF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11193" y="4455588"/>
            <a:ext cx="-1713297" cy="245209"/>
          </a:xfrm>
          <a:prstGeom prst="line">
            <a:avLst/>
          </a:prstGeom>
          <a:noFill/>
          <a:ln w="31750">
            <a:solidFill>
              <a:srgbClr val="00AF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97896" y="4700797"/>
            <a:ext cx="-195316" cy="176125"/>
          </a:xfrm>
          <a:prstGeom prst="line">
            <a:avLst/>
          </a:prstGeom>
          <a:noFill/>
          <a:ln w="31750">
            <a:solidFill>
              <a:srgbClr val="00AFC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37203" y="1979021"/>
            <a:ext cx="201168" cy="201168"/>
          </a:xfrm>
          <a:prstGeom prst="ellipse">
            <a:avLst/>
          </a:prstGeom>
          <a:solidFill>
            <a:srgbClr val="00AFC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52571" y="2253341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0.10 V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6,519 m²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3906" y="3686364"/>
            <a:ext cx="201168" cy="201168"/>
          </a:xfrm>
          <a:prstGeom prst="ellipse">
            <a:avLst/>
          </a:prstGeom>
          <a:solidFill>
            <a:srgbClr val="00AFC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39274" y="3238308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0.10 V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8,669 m²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10609" y="4355004"/>
            <a:ext cx="201168" cy="201168"/>
          </a:xfrm>
          <a:prstGeom prst="ellipse">
            <a:avLst/>
          </a:prstGeom>
          <a:solidFill>
            <a:srgbClr val="00AFC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825977" y="3906948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0.50 V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7,066 m²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597312" y="4600213"/>
            <a:ext cx="201168" cy="201168"/>
          </a:xfrm>
          <a:prstGeom prst="ellipse">
            <a:avLst/>
          </a:prstGeom>
          <a:solidFill>
            <a:srgbClr val="00AFC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12680" y="4152157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1.00 V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5,758 m²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401997" y="4776338"/>
            <a:ext cx="201168" cy="201168"/>
          </a:xfrm>
          <a:prstGeom prst="ellipse">
            <a:avLst/>
          </a:prstGeom>
          <a:solidFill>
            <a:srgbClr val="00BDA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7365" y="432828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DA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1.00 V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BDA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5,899 m²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2331720" y="55778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Active ERV outlet humidity ratio [g/kg dry air]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 rot="16200000">
            <a:off x="36576" y="2962656"/>
            <a:ext cx="2926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Known total power [kW]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680960" y="1709928"/>
            <a:ext cx="3794760" cy="3493008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10144" y="1984248"/>
            <a:ext cx="1444752" cy="310896"/>
          </a:xfrm>
          <a:prstGeom prst="roundRect">
            <a:avLst>
              <a:gd name="adj" fmla="val 35294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83296" y="199339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00BDA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O30 SELECTION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8010144" y="2505456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BDA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8.886 g/kg</a:t>
            </a:r>
            <a:endParaRPr lang="en-US" sz="2500" dirty="0"/>
          </a:p>
        </p:txBody>
      </p:sp>
      <p:sp>
        <p:nvSpPr>
          <p:cNvPr id="40" name="Text 38"/>
          <p:cNvSpPr txBox="1"/>
          <p:nvPr/>
        </p:nvSpPr>
        <p:spPr>
          <a:xfrm>
            <a:off x="8010144" y="2990088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1.00 V  •  5,899 m²  •  418.400 kW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092440" y="3529584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optimum is not simply the lowest voltage or smallest area. Higher voltage can reduce required area while increasing electrical stress and power.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010144" y="4599432"/>
            <a:ext cx="3072384" cy="365760"/>
          </a:xfrm>
          <a:prstGeom prst="roundRect">
            <a:avLst>
              <a:gd name="adj" fmla="val 30000"/>
            </a:avLst>
          </a:prstGeom>
          <a:solidFill>
            <a:srgbClr val="FFF2E6"/>
          </a:solidFill>
          <a:ln w="12700">
            <a:solidFill>
              <a:srgbClr val="FFF2E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165592" y="4663440"/>
            <a:ext cx="2761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Screening area cap: 9,000 m²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41248" y="5925312"/>
            <a:ext cx="10634472" cy="347472"/>
          </a:xfrm>
          <a:prstGeom prst="roundRect">
            <a:avLst>
              <a:gd name="adj" fmla="val 31579"/>
            </a:avLst>
          </a:prstGeom>
          <a:solidFill>
            <a:srgbClr val="FFF2E6"/>
          </a:solidFill>
          <a:ln w="12700">
            <a:solidFill>
              <a:srgbClr val="FFF2E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05840" y="5971032"/>
            <a:ext cx="10305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Full dehumidification required at least ≈17,253 m² in the valid screening—outside the selected area cap.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B98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SCOPE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4008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high-value screening model—not a validated commercial module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499616"/>
            <a:ext cx="5367528" cy="4526280"/>
          </a:xfrm>
          <a:prstGeom prst="roundRect">
            <a:avLst>
              <a:gd name="adj" fmla="val 2424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1783080"/>
            <a:ext cx="1691640" cy="310896"/>
          </a:xfrm>
          <a:prstGeom prst="roundRect">
            <a:avLst>
              <a:gd name="adj" fmla="val 35294"/>
            </a:avLst>
          </a:prstGeom>
          <a:solidFill>
            <a:srgbClr val="CBEFE8"/>
          </a:solidFill>
          <a:ln w="12700">
            <a:solidFill>
              <a:srgbClr val="CBEF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4984" y="1792224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00BDA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THE MODEL IS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7552" y="2340864"/>
            <a:ext cx="237744" cy="237744"/>
          </a:xfrm>
          <a:prstGeom prst="ellipse">
            <a:avLst/>
          </a:prstGeom>
          <a:solidFill>
            <a:srgbClr val="00BDAA"/>
          </a:solidFill>
          <a:ln w="12700">
            <a:solidFill>
              <a:srgbClr val="00BDA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2331720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295144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Physically based research model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87552" y="2788920"/>
            <a:ext cx="237744" cy="237744"/>
          </a:xfrm>
          <a:prstGeom prst="ellipse">
            <a:avLst/>
          </a:prstGeom>
          <a:solidFill>
            <a:srgbClr val="00BDAA"/>
          </a:solidFill>
          <a:ln w="12700">
            <a:solidFill>
              <a:srgbClr val="00BDA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7552" y="2779776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743200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1D transport through membrane thickness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87552" y="3236976"/>
            <a:ext cx="237744" cy="237744"/>
          </a:xfrm>
          <a:prstGeom prst="ellipse">
            <a:avLst/>
          </a:prstGeom>
          <a:solidFill>
            <a:srgbClr val="00BDAA"/>
          </a:solidFill>
          <a:ln w="12700">
            <a:solidFill>
              <a:srgbClr val="00BDA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7552" y="3227832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3191256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Segmented counter-current ERV core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87552" y="3685032"/>
            <a:ext cx="237744" cy="237744"/>
          </a:xfrm>
          <a:prstGeom prst="ellipse">
            <a:avLst/>
          </a:prstGeom>
          <a:solidFill>
            <a:srgbClr val="00BDAA"/>
          </a:solidFill>
          <a:ln w="12700">
            <a:solidFill>
              <a:srgbClr val="00BDA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7552" y="3675888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344168" y="3639312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Coupled water balance between air streams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87552" y="4133088"/>
            <a:ext cx="237744" cy="237744"/>
          </a:xfrm>
          <a:prstGeom prst="ellipse">
            <a:avLst/>
          </a:prstGeom>
          <a:solidFill>
            <a:srgbClr val="00BDAA"/>
          </a:solidFill>
          <a:ln w="12700">
            <a:solidFill>
              <a:srgbClr val="00BDA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" y="4123944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344168" y="4087368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Voltage-controlled ionic transport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87552" y="4581144"/>
            <a:ext cx="237744" cy="237744"/>
          </a:xfrm>
          <a:prstGeom prst="ellipse">
            <a:avLst/>
          </a:prstGeom>
          <a:solidFill>
            <a:srgbClr val="00BDAA"/>
          </a:solidFill>
          <a:ln w="12700">
            <a:solidFill>
              <a:srgbClr val="00BDA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87552" y="4572000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344168" y="4535424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Reduced but realistic coil / energy model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87552" y="5029200"/>
            <a:ext cx="237744" cy="237744"/>
          </a:xfrm>
          <a:prstGeom prst="ellipse">
            <a:avLst/>
          </a:prstGeom>
          <a:solidFill>
            <a:srgbClr val="00BDAA"/>
          </a:solidFill>
          <a:ln w="12700">
            <a:solidFill>
              <a:srgbClr val="00BDA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7552" y="5020056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344168" y="4983480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Forward + inverse-design screening tool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36208" y="1499616"/>
            <a:ext cx="5330952" cy="4526280"/>
          </a:xfrm>
          <a:prstGeom prst="roundRect">
            <a:avLst>
              <a:gd name="adj" fmla="val 2424"/>
            </a:avLst>
          </a:prstGeom>
          <a:solidFill>
            <a:srgbClr val="FFF2E6"/>
          </a:solidFill>
          <a:ln w="12700">
            <a:solidFill>
              <a:srgbClr val="FFF2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19672" y="1783080"/>
            <a:ext cx="1554480" cy="310896"/>
          </a:xfrm>
          <a:prstGeom prst="roundRect">
            <a:avLst>
              <a:gd name="adj" fmla="val 35294"/>
            </a:avLst>
          </a:prstGeom>
          <a:solidFill>
            <a:srgbClr val="FBE3C8"/>
          </a:solidFill>
          <a:ln w="12700">
            <a:solidFill>
              <a:srgbClr val="FBE3C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92824" y="179222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F4A26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IT IS NOT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65392" y="2340864"/>
            <a:ext cx="237744" cy="237744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65392" y="2331720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922008" y="2295144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Full 2D / 3D CFD or conjugate PDE model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565392" y="2788920"/>
            <a:ext cx="237744" cy="237744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65392" y="2779776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922008" y="2743200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Validated commercial ERV module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565392" y="3236976"/>
            <a:ext cx="237744" cy="237744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65392" y="3227832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922008" y="3191256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Validated electrochemical electrode model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565392" y="3685032"/>
            <a:ext cx="237744" cy="237744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65392" y="3675888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922008" y="3639312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Dynamic aging, fouling or durability model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565392" y="4133088"/>
            <a:ext cx="237744" cy="237744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565392" y="4123944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922008" y="4087368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 that high tw is achievable in vapor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565392" y="4581144"/>
            <a:ext cx="237744" cy="237744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565392" y="4572000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6922008" y="4535424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Closed receiver / drainage / heat-rejection design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6565392" y="5029200"/>
            <a:ext cx="237744" cy="237744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565392" y="5020056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922008" y="4983480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CAPEX or lifecycle-cost model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658368" y="619963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 the model to define the experiment and the material target—not to skip them.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B98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VALIDATION PATH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4008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next experiment must close transport, electrical and balance claims together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528523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783080"/>
            <a:ext cx="603504" cy="603504"/>
          </a:xfrm>
          <a:prstGeom prst="ellipse">
            <a:avLst/>
          </a:prstGeom>
          <a:solidFill>
            <a:srgbClr val="00AFC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783080"/>
            <a:ext cx="603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36776" y="17099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Polarity-dependent net water flux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36776" y="203911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Demonstrate reversible directionality and quantify net flux.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28523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9088" y="1783080"/>
            <a:ext cx="603504" cy="603504"/>
          </a:xfrm>
          <a:prstGeom prst="ellipse">
            <a:avLst/>
          </a:prstGeom>
          <a:solidFill>
            <a:srgbClr val="00AFC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9088" y="1783080"/>
            <a:ext cx="603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96328" y="17099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Effective tw in vapor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96328" y="203911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Derive from EO flux and current under representative RH.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2944368"/>
            <a:ext cx="528523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" y="3172968"/>
            <a:ext cx="603504" cy="603504"/>
          </a:xfrm>
          <a:prstGeom prst="ellipse">
            <a:avLst/>
          </a:prstGeom>
          <a:solidFill>
            <a:srgbClr val="3178C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" y="3172968"/>
            <a:ext cx="603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36776" y="309981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Conductivity / ASR at the same RH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636776" y="342900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Measure the electrical state that actually supports the flux.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2944368"/>
            <a:ext cx="528523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9088" y="3172968"/>
            <a:ext cx="603504" cy="603504"/>
          </a:xfrm>
          <a:prstGeom prst="ellipse">
            <a:avLst/>
          </a:prstGeom>
          <a:solidFill>
            <a:srgbClr val="3178C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9088" y="3172968"/>
            <a:ext cx="603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96328" y="309981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Passive back-diffusion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96328" y="342900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Run matched EO-off controls across the same activity gradient.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" y="4334256"/>
            <a:ext cx="528523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9536" y="4562856"/>
            <a:ext cx="603504" cy="603504"/>
          </a:xfrm>
          <a:prstGeom prst="ellipse">
            <a:avLst/>
          </a:prstGeom>
          <a:solidFill>
            <a:srgbClr val="00BDA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" y="4562856"/>
            <a:ext cx="603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636776" y="44897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Donor / receiver closure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636776" y="481888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Mass-balance both air streams; identify saturation or film limits.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17920" y="4334256"/>
            <a:ext cx="528523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19088" y="4562856"/>
            <a:ext cx="603504" cy="603504"/>
          </a:xfrm>
          <a:prstGeom prst="ellipse">
            <a:avLst/>
          </a:prstGeom>
          <a:solidFill>
            <a:srgbClr val="00BDA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19088" y="4562856"/>
            <a:ext cx="603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196328" y="44897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Stable operation at 1 V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196328" y="481888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Track current, heat, electrodes and performance over time.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8368" y="5833872"/>
            <a:ext cx="10844784" cy="438912"/>
          </a:xfrm>
          <a:prstGeom prst="roundRect">
            <a:avLst>
              <a:gd name="adj" fmla="val 25000"/>
            </a:avLst>
          </a:prstGeom>
          <a:solidFill>
            <a:srgbClr val="123653"/>
          </a:solidFill>
          <a:ln w="12700">
            <a:solidFill>
              <a:srgbClr val="12365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96112" y="5897880"/>
            <a:ext cx="103692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Success criterion: measured membrane + hardware performance preserves a positive margin inside the 125.34 kW conditional window.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B98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6656" y="5669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76656" y="1078992"/>
            <a:ext cx="7315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model defines a credible target.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experiment must decide whether it is real.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76656" y="2743200"/>
            <a:ext cx="3529584" cy="822960"/>
          </a:xfrm>
          <a:prstGeom prst="roundRect">
            <a:avLst>
              <a:gd name="adj" fmla="val 13333"/>
            </a:avLst>
          </a:prstGeom>
          <a:solidFill>
            <a:srgbClr val="123653"/>
          </a:solidFill>
          <a:ln w="12700">
            <a:solidFill>
              <a:srgbClr val="2446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2880360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SYSTEM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2852928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418.4 kW known modeled total at O30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62856" y="2743200"/>
            <a:ext cx="3529584" cy="822960"/>
          </a:xfrm>
          <a:prstGeom prst="roundRect">
            <a:avLst>
              <a:gd name="adj" fmla="val 13333"/>
            </a:avLst>
          </a:prstGeom>
          <a:solidFill>
            <a:srgbClr val="123653"/>
          </a:solidFill>
          <a:ln w="12700">
            <a:solidFill>
              <a:srgbClr val="2446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64024" y="2880360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MARGIN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614416" y="2852928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125.34 kW conditional window vs. passive ERV + AC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76656" y="3858768"/>
            <a:ext cx="3529584" cy="822960"/>
          </a:xfrm>
          <a:prstGeom prst="roundRect">
            <a:avLst>
              <a:gd name="adj" fmla="val 13333"/>
            </a:avLst>
          </a:prstGeom>
          <a:solidFill>
            <a:srgbClr val="123653"/>
          </a:solidFill>
          <a:ln w="12700">
            <a:solidFill>
              <a:srgbClr val="2446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7824" y="3995928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HARDWARE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728216" y="396849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5,899 m² active membrane at 1 V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62856" y="3858768"/>
            <a:ext cx="3529584" cy="822960"/>
          </a:xfrm>
          <a:prstGeom prst="roundRect">
            <a:avLst>
              <a:gd name="adj" fmla="val 13333"/>
            </a:avLst>
          </a:prstGeom>
          <a:solidFill>
            <a:srgbClr val="123653"/>
          </a:solidFill>
          <a:ln w="12700">
            <a:solidFill>
              <a:srgbClr val="2446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64024" y="3995928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MATERIAL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614416" y="396849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Inverse-design vector still requires vapor validation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94192" y="1060704"/>
            <a:ext cx="3108960" cy="4480560"/>
          </a:xfrm>
          <a:prstGeom prst="roundRect">
            <a:avLst>
              <a:gd name="adj" fmla="val 3529"/>
            </a:avLst>
          </a:prstGeom>
          <a:solidFill>
            <a:srgbClr val="102E47"/>
          </a:solidFill>
          <a:ln w="12700">
            <a:solidFill>
              <a:srgbClr val="2446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05088" y="141732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13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RECOMMENDED NEXT MOVE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732520" y="201168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7E4E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 the vapor coupon test around the incremental target: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732520" y="276148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200–250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8732520" y="33375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 m⁻² h⁻¹ net, polarity-dependent water transport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732520" y="4233672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6D7D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paired with current, ASR, thermal and donor/receiver balance measurements.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" y="6327648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FA8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HeiQ / XMembrane  •  Coupled model synthesis  • 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APPENDIX 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4008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Core equation 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536192"/>
            <a:ext cx="5285232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700784"/>
            <a:ext cx="1426464" cy="310896"/>
          </a:xfrm>
          <a:prstGeom prst="roundRect">
            <a:avLst>
              <a:gd name="adj" fmla="val 35294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17099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3178C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PSYCHROMETRICS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459736" y="170078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 = 1.006T + w(2501 + 1.86T)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ṁw = ṁda(win − wout)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536192"/>
            <a:ext cx="5285232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7376" y="1700784"/>
            <a:ext cx="1426464" cy="310896"/>
          </a:xfrm>
          <a:prstGeom prst="roundRect">
            <a:avLst>
              <a:gd name="adj" fmla="val 35294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0528" y="17099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3178C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PASSIVE ERV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019288" y="170078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Tout = TOA − εs(TOA − Texh)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wout = wOA − εl(wOA − wexh)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2971800"/>
            <a:ext cx="5285232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3136392"/>
            <a:ext cx="1426464" cy="310896"/>
          </a:xfrm>
          <a:prstGeom prst="roundRect">
            <a:avLst>
              <a:gd name="adj" fmla="val 35294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0976" y="31455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00BDA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MEMBRANE FLUX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459736" y="313639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Nw = tw j/F − Dw(aw)Sw(aw) daw/dx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17920" y="2971800"/>
            <a:ext cx="5285232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7376" y="3136392"/>
            <a:ext cx="1426464" cy="310896"/>
          </a:xfrm>
          <a:prstGeom prst="roundRect">
            <a:avLst>
              <a:gd name="adj" fmla="val 35294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10528" y="31455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00BDA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VOLTAGE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019288" y="313639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Vterminal = Vohm + Vwater + jASRseries + Vfixed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8368" y="4407408"/>
            <a:ext cx="5285232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" y="4572000"/>
            <a:ext cx="1426464" cy="310896"/>
          </a:xfrm>
          <a:prstGeom prst="roundRect">
            <a:avLst>
              <a:gd name="adj" fmla="val 35294"/>
            </a:avLst>
          </a:prstGeom>
          <a:solidFill>
            <a:srgbClr val="EAF3F6"/>
          </a:solidFill>
          <a:ln w="12700">
            <a:solidFill>
              <a:srgbClr val="EAF3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0976" y="45811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CORE INTEGRATION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2459736" y="4572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Atotal = Σ Ai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PEO = Σ Vi ji Ai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17920" y="4407408"/>
            <a:ext cx="5285232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37376" y="4572000"/>
            <a:ext cx="1426464" cy="310896"/>
          </a:xfrm>
          <a:prstGeom prst="roundRect">
            <a:avLst>
              <a:gd name="adj" fmla="val 35294"/>
            </a:avLst>
          </a:prstGeom>
          <a:solidFill>
            <a:srgbClr val="EAF3F6"/>
          </a:solidFill>
          <a:ln w="12700">
            <a:solidFill>
              <a:srgbClr val="EAF3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10528" y="45811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COOLING COIL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019288" y="4572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Q̇cool = ṁda(hin − hoff)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Pcompressor = Q̇cool / COP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" y="5998464"/>
            <a:ext cx="10826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All balances are evaluated on a dry-air basis unless stated otherwise.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B98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APPENDIX B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4008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Gross EO flux scales linearly with tw and current density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3533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At j = 10 A/m², before back-diffusion and gas-film losses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77824" y="1856232"/>
            <a:ext cx="4663440" cy="530352"/>
          </a:xfrm>
          <a:prstGeom prst="rect">
            <a:avLst/>
          </a:prstGeom>
          <a:solidFill>
            <a:srgbClr val="123653"/>
          </a:solidFill>
          <a:ln w="12700">
            <a:solidFill>
              <a:srgbClr val="12365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0704" y="19659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tw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203704" y="1965960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Gross EO flux [g m⁻² h⁻¹]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77824" y="2386584"/>
            <a:ext cx="4663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4E0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60704" y="24963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203704" y="249631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67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7824" y="2916936"/>
            <a:ext cx="4663440" cy="530352"/>
          </a:xfrm>
          <a:prstGeom prst="rect">
            <a:avLst/>
          </a:prstGeom>
          <a:solidFill>
            <a:srgbClr val="EAF3F6"/>
          </a:solidFill>
          <a:ln w="8890">
            <a:solidFill>
              <a:srgbClr val="D4E0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0704" y="30266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203704" y="3026664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134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7824" y="3447288"/>
            <a:ext cx="4663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4E0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0704" y="355701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203704" y="3557016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77824" y="3977640"/>
            <a:ext cx="4663440" cy="530352"/>
          </a:xfrm>
          <a:prstGeom prst="rect">
            <a:avLst/>
          </a:prstGeom>
          <a:solidFill>
            <a:srgbClr val="EAF3F6"/>
          </a:solidFill>
          <a:ln w="8890">
            <a:solidFill>
              <a:srgbClr val="D4E0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60704" y="40873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203704" y="4087368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336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7824" y="4507992"/>
            <a:ext cx="4663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4E0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60704" y="46177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203704" y="4617720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504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77824" y="5038344"/>
            <a:ext cx="4663440" cy="530352"/>
          </a:xfrm>
          <a:prstGeom prst="rect">
            <a:avLst/>
          </a:prstGeom>
          <a:solidFill>
            <a:srgbClr val="EAF3F6"/>
          </a:solidFill>
          <a:ln w="8890">
            <a:solidFill>
              <a:srgbClr val="D4E0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60704" y="51480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203704" y="514807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672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98464" y="1856232"/>
            <a:ext cx="5212080" cy="3712464"/>
          </a:xfrm>
          <a:prstGeom prst="roundRect">
            <a:avLst>
              <a:gd name="adj" fmla="val 2956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2139696"/>
            <a:ext cx="1426464" cy="310896"/>
          </a:xfrm>
          <a:prstGeom prst="roundRect">
            <a:avLst>
              <a:gd name="adj" fmla="val 35294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82512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00BDA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INTERPRETATION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2761488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JEO,gross ≈ 0.672 · tw · j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6419088" y="3429000"/>
            <a:ext cx="43342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Gross Faradaic transport is not the useful system flux.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Back-diffusion and gas-film resistance reduce net transport.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 tw also increases the water-polarization voltage term.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complete property vector—not a single number—sets feasibility.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09360" y="5029200"/>
            <a:ext cx="4590288" cy="310896"/>
          </a:xfrm>
          <a:prstGeom prst="roundRect">
            <a:avLst>
              <a:gd name="adj" fmla="val 35294"/>
            </a:avLst>
          </a:prstGeom>
          <a:solidFill>
            <a:srgbClr val="FFF2E6"/>
          </a:solidFill>
          <a:ln w="12700">
            <a:solidFill>
              <a:srgbClr val="FFF2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64808" y="5065776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Treat high tw values as design coordinates until measured.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B98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APPENDIX C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4008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Questions the audience is likely to ask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5285232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16276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Is tw measured for the selected membrane?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00253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No. It is an inverse-design parameter until measured under relevant vapor conditions.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481328"/>
            <a:ext cx="5285232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37376" y="16276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Why not use liquid-cell values directly?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37376" y="200253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Hydration, morphology, conductivity and interfacial transport can differ radically between liquid and two gas streams.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2980944"/>
            <a:ext cx="5285232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7824" y="31272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Why is not all gross EO flux useful?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77824" y="35021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Back-diffusion, activity gradients and gas films oppose or limit the desired transport.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980944"/>
            <a:ext cx="5285232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7376" y="31272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Why is the membrane area so large?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35021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air flow is ~150,000 CFM while local net flux is limited; compact ERVs use many thin parallel channels to create area.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4480560"/>
            <a:ext cx="5285232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" y="462686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Is 23.05% a documented saving?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77824" y="50017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No. It is a reduction in the known modeled sum; all omitted losses must fit inside 125.34 kW.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4480560"/>
            <a:ext cx="5285232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4E0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37376" y="462686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would validate the concept?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437376" y="50017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Matched polarity tests, vapor tw, RH-resolved ASR, back-diffusion, mass balance, heat and stable 1 V operation.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144768"/>
            <a:ext cx="10835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7B6C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Controlled references: docs/MODEL_CHAIN.md and the Final Result and Decision Report (v9, 31 Aug 2026).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B98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a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HeiQ / XMembrane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Electro-Osmotic Water Transport Integrated into an ERV</dc:title>
  <dc:subject>Coupled electro-osmotic ERV model and O30 operating point</dc:subject>
  <dc:creator>OpenAI Codex for HeiQ / XMembrane</dc:creator>
  <cp:lastModifiedBy>OpenAI Codex for HeiQ / XMembrane</cp:lastModifiedBy>
  <cp:revision>1</cp:revision>
  <dcterms:created xsi:type="dcterms:W3CDTF">2026-09-02T08:34:53Z</dcterms:created>
  <dcterms:modified xsi:type="dcterms:W3CDTF">2026-09-02T08:34:53Z</dcterms:modified>
</cp:coreProperties>
</file>